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7" r:id="rId2"/>
    <p:sldId id="258" r:id="rId3"/>
    <p:sldId id="259" r:id="rId4"/>
    <p:sldId id="260" r:id="rId5"/>
    <p:sldId id="261" r:id="rId6"/>
    <p:sldId id="262" r:id="rId7"/>
    <p:sldId id="302" r:id="rId8"/>
    <p:sldId id="263" r:id="rId9"/>
    <p:sldId id="264" r:id="rId10"/>
    <p:sldId id="265" r:id="rId11"/>
    <p:sldId id="266" r:id="rId12"/>
    <p:sldId id="298" r:id="rId13"/>
    <p:sldId id="299" r:id="rId14"/>
    <p:sldId id="267" r:id="rId15"/>
    <p:sldId id="268" r:id="rId16"/>
    <p:sldId id="269" r:id="rId17"/>
    <p:sldId id="270" r:id="rId18"/>
    <p:sldId id="305" r:id="rId19"/>
    <p:sldId id="271" r:id="rId20"/>
    <p:sldId id="272" r:id="rId21"/>
    <p:sldId id="303" r:id="rId22"/>
    <p:sldId id="273" r:id="rId23"/>
    <p:sldId id="315" r:id="rId24"/>
    <p:sldId id="307" r:id="rId25"/>
    <p:sldId id="314" r:id="rId26"/>
    <p:sldId id="274" r:id="rId27"/>
    <p:sldId id="306" r:id="rId28"/>
    <p:sldId id="300" r:id="rId29"/>
    <p:sldId id="316" r:id="rId30"/>
    <p:sldId id="276" r:id="rId31"/>
    <p:sldId id="309" r:id="rId32"/>
    <p:sldId id="310" r:id="rId33"/>
    <p:sldId id="278" r:id="rId34"/>
    <p:sldId id="279" r:id="rId35"/>
    <p:sldId id="280" r:id="rId36"/>
    <p:sldId id="308" r:id="rId37"/>
    <p:sldId id="281" r:id="rId38"/>
    <p:sldId id="312" r:id="rId39"/>
    <p:sldId id="282" r:id="rId40"/>
    <p:sldId id="304" r:id="rId41"/>
    <p:sldId id="311" r:id="rId42"/>
    <p:sldId id="317" r:id="rId43"/>
    <p:sldId id="318" r:id="rId44"/>
    <p:sldId id="283" r:id="rId45"/>
    <p:sldId id="284" r:id="rId46"/>
    <p:sldId id="285" r:id="rId47"/>
    <p:sldId id="287" r:id="rId48"/>
    <p:sldId id="286" r:id="rId49"/>
    <p:sldId id="288" r:id="rId50"/>
    <p:sldId id="289" r:id="rId51"/>
    <p:sldId id="290" r:id="rId52"/>
    <p:sldId id="292" r:id="rId53"/>
    <p:sldId id="293" r:id="rId54"/>
    <p:sldId id="294" r:id="rId55"/>
    <p:sldId id="295" r:id="rId56"/>
    <p:sldId id="296" r:id="rId57"/>
    <p:sldId id="297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2B58B-7EC3-4868-812D-518EA0AEA26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D23AC-D084-41D8-BEAE-8EC5A6EE2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806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DC059-2105-4F6B-84C7-0A7B0427F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438E2-B335-42F3-BD2C-895D9A59E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28A7E-62E5-4747-A520-8C0EE05A8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27FE2-B8F1-469C-9648-168AFFC6C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F35E7-8366-4C5F-9FDB-C3C7E7BA3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3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49887-F102-466D-9AA0-468F0884C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51762-629F-43D2-9ABF-2445F3EA6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14A53-71BC-4EF6-B307-DC95FFE67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48AF1-38F5-4073-97DE-272C4D052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985B2-D8FC-4E45-A83A-0988DE11B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22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245F-C537-4437-9AA3-3A3DB2B06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3525A-1131-44B0-ABEF-DA1CE7416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EC604-0D2D-4387-9C04-9CA83DE5C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F55FD-6FCC-4FE1-8795-3423B104A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C2416-33CA-46A1-A8E8-D60DF80FE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42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6E3F-BED3-438F-8143-BEC502F3A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AF60B-80C8-4017-98D4-7117D1789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8DC42-602E-4B2D-A641-CD5800E9F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153AB-F4EA-4D88-858C-DA0BC8B32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93D04-06E7-4160-B223-8EAA71F87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3412C-3FB2-4326-8C10-87601A58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8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75A27-6B3F-4A4B-A9D1-6D8A2D689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96122-4C88-49CA-B156-A94178F4C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2698F-E2C3-4692-8C24-FDE94BAC6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1D1985-E57E-40CB-A933-FF7FA7DF9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1F164A-0DEC-4A65-9CDB-3287C030C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FC294-E4C9-4315-AA0F-AF9443AC4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37B49C-37B7-41DD-AE3C-EE808F8C3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0C5A53-313E-4BA2-A5B9-FB3DAE94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20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16884-CEA4-41C9-8143-97210B917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632D60-074E-439C-97FC-B8A809AD0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2EF49-D476-4582-97D0-9B74B022F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EDEF6-154D-49F6-B437-B9113E3E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6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5F446F-ECAE-45DF-824F-596FF616C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00FF58-2027-4FCC-94FD-5289A10D4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EBA24-4655-4C2F-BEAE-33396F0E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969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7D34-E0DC-4920-B358-266841661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9B089-DD37-41B7-AB9B-F220F6426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446FF-59E1-4F03-A958-5E9D2A31B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0F0CC-2A9C-4362-B778-5CF4E4502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6AFCE-F92C-4FA3-B2AC-783B9470D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82D81-9974-4CBC-97F8-993AD468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351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9EFD-BB25-470A-8D0A-C00D5792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FD8744-D68C-4196-B45C-CB1A8AB4E1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6A247-3A45-4A55-BAF6-6A2A18273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6B144-1C45-456E-A959-8F31A315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14CB5-52F9-450C-8C2D-9A5094395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19EE2-BDF3-4DD3-A9C9-3EC027F00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60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4EE4-8F7E-4D71-9872-FF3BB9AF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53A06-0B1B-46D8-ACC4-C109D6795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9E175-0C4B-40C3-A26D-F9A554E19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FC7F0-8778-4B27-8E57-050A6955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9183D-03AD-4C87-8E1A-D3479BE7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4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2558F-BD8A-45D8-8128-60A9B36F3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B0C81-2508-4076-A839-6273033BA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EC42A-0230-41D3-9A56-0257C9F9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D3F4-B591-4A32-AF3C-84EAA66B33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A0B00-CB1B-4CF6-94A8-2EF993C8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26217-7946-4951-9881-5B580DCB4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55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31E28-7385-4224-BA91-577400422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EBCAC-176C-414B-A0AB-D0CFD8AD6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C2992-D35F-4F2F-8BBE-363FAE4CEE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8D3F4-B591-4A32-AF3C-84EAA66B33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0D0AF-AB80-407E-9FE7-B9B6D5A8B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4CAA2-32F5-4331-9389-43BF3937D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65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mageeprocessing.com/2011/05/image-arithmetic.html" TargetMode="Externa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ageeprocessing.com/2011/05/image-arithmetic.html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se19-iiith.vlabs.ac.in/theory.php?exp=neigh" TargetMode="External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homepages.inf.ed.ac.uk/rbf/HIPR2/pixmult.htm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e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48C48-39F5-46DF-82D1-A8DEEC74D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2240" y="634683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n-lt"/>
              </a:rPr>
              <a:t>05 - </a:t>
            </a:r>
            <a:r>
              <a:rPr lang="en-US" b="1" dirty="0" err="1">
                <a:latin typeface="+mn-lt"/>
              </a:rPr>
              <a:t>Operasi-operasi</a:t>
            </a:r>
            <a:r>
              <a:rPr lang="en-US" b="1" dirty="0">
                <a:latin typeface="+mn-lt"/>
              </a:rPr>
              <a:t> Dasar </a:t>
            </a:r>
            <a:r>
              <a:rPr lang="en-US" b="1" dirty="0" err="1">
                <a:latin typeface="+mn-lt"/>
              </a:rPr>
              <a:t>Pengolahan</a:t>
            </a:r>
            <a:r>
              <a:rPr lang="en-US" b="1" dirty="0">
                <a:latin typeface="+mn-lt"/>
              </a:rPr>
              <a:t> Citra</a:t>
            </a:r>
            <a:endParaRPr lang="en-US" sz="28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8532B5-440C-4CF9-BA6E-65D0274F1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6444" y="2290445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IF4073 </a:t>
            </a:r>
            <a:r>
              <a:rPr lang="en-US" sz="3600" dirty="0" err="1"/>
              <a:t>Interpretasi</a:t>
            </a:r>
            <a:r>
              <a:rPr lang="en-US" sz="3600" dirty="0"/>
              <a:t> dan </a:t>
            </a:r>
            <a:r>
              <a:rPr lang="en-US" sz="3600" dirty="0" err="1"/>
              <a:t>Pengolahan</a:t>
            </a:r>
            <a:r>
              <a:rPr lang="en-US" sz="3600" dirty="0"/>
              <a:t> Citra</a:t>
            </a:r>
          </a:p>
          <a:p>
            <a:endParaRPr lang="en-US" sz="3600" dirty="0"/>
          </a:p>
          <a:p>
            <a:r>
              <a:rPr lang="en-US" sz="3600" dirty="0"/>
              <a:t>Oleh: Rinaldi Munir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EF0E72-0D77-457B-A795-B4D2AF854200}"/>
              </a:ext>
            </a:extLst>
          </p:cNvPr>
          <p:cNvSpPr txBox="1"/>
          <p:nvPr/>
        </p:nvSpPr>
        <p:spPr>
          <a:xfrm>
            <a:off x="4260160" y="5657671"/>
            <a:ext cx="38565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Program </a:t>
            </a:r>
            <a:r>
              <a:rPr lang="en-US" dirty="0" err="1"/>
              <a:t>Studi</a:t>
            </a:r>
            <a:r>
              <a:rPr lang="en-US" dirty="0"/>
              <a:t> Teknik </a:t>
            </a:r>
            <a:r>
              <a:rPr lang="en-US" dirty="0" err="1"/>
              <a:t>Informatika</a:t>
            </a:r>
            <a:endParaRPr lang="en-US" dirty="0"/>
          </a:p>
          <a:p>
            <a:pPr algn="ctr"/>
            <a:r>
              <a:rPr lang="en-US" dirty="0" err="1"/>
              <a:t>Sekolah</a:t>
            </a:r>
            <a:r>
              <a:rPr lang="en-US" dirty="0"/>
              <a:t> Teknik </a:t>
            </a:r>
            <a:r>
              <a:rPr lang="en-US" dirty="0" err="1"/>
              <a:t>Elektro</a:t>
            </a:r>
            <a:r>
              <a:rPr lang="en-US" dirty="0"/>
              <a:t> dan </a:t>
            </a:r>
            <a:r>
              <a:rPr lang="en-US" dirty="0" err="1"/>
              <a:t>Informatika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Institut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 Bandung</a:t>
            </a:r>
          </a:p>
          <a:p>
            <a:pPr algn="ctr"/>
            <a:r>
              <a:rPr lang="en-US" dirty="0"/>
              <a:t>2021</a:t>
            </a:r>
          </a:p>
        </p:txBody>
      </p:sp>
      <p:pic>
        <p:nvPicPr>
          <p:cNvPr id="5" name="Picture 2" descr="Download Logo ITB - Direktorat Sistem dan Teknologi Informasi Institut  Teknologi Bandung">
            <a:extLst>
              <a:ext uri="{FF2B5EF4-FFF2-40B4-BE49-F238E27FC236}">
                <a16:creationId xmlns:a16="http://schemas.microsoft.com/office/drawing/2014/main" id="{52106146-99AF-461A-AC76-438DFD296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2415" y="4001909"/>
            <a:ext cx="1487170" cy="148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167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F4E72-AB4A-4345-A279-C44E1528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Aras </a:t>
            </a:r>
            <a:r>
              <a:rPr lang="en-US" b="1" dirty="0" err="1">
                <a:latin typeface="+mn-lt"/>
              </a:rPr>
              <a:t>operasi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D7F33-2E20-4048-B749-FE398BA65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Operasi-operasi</a:t>
            </a:r>
            <a:r>
              <a:rPr lang="en-US" dirty="0"/>
              <a:t> yang </a:t>
            </a:r>
            <a:r>
              <a:rPr lang="en-US" dirty="0" err="1"/>
              <a:t>dilakukan</a:t>
            </a:r>
            <a:r>
              <a:rPr lang="en-US" dirty="0"/>
              <a:t> pada </a:t>
            </a:r>
            <a:r>
              <a:rPr lang="en-US" dirty="0" err="1"/>
              <a:t>pengolahan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dikelompokkan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empat</a:t>
            </a:r>
            <a:r>
              <a:rPr lang="en-US" dirty="0"/>
              <a:t> </a:t>
            </a:r>
            <a:r>
              <a:rPr lang="en-US" dirty="0" err="1"/>
              <a:t>aras</a:t>
            </a:r>
            <a:r>
              <a:rPr lang="en-US" dirty="0"/>
              <a:t> (</a:t>
            </a:r>
            <a:r>
              <a:rPr lang="en-US" i="1" dirty="0"/>
              <a:t>level</a:t>
            </a:r>
            <a:r>
              <a:rPr lang="en-US" dirty="0"/>
              <a:t>) </a:t>
            </a:r>
            <a:r>
              <a:rPr lang="en-US" dirty="0" err="1"/>
              <a:t>komputasi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dirty="0" err="1"/>
              <a:t>aras</a:t>
            </a:r>
            <a:r>
              <a:rPr lang="en-US" dirty="0"/>
              <a:t> </a:t>
            </a:r>
            <a:r>
              <a:rPr lang="en-US" dirty="0" err="1"/>
              <a:t>titik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dirty="0" err="1"/>
              <a:t>aras</a:t>
            </a:r>
            <a:r>
              <a:rPr lang="en-US" dirty="0"/>
              <a:t> local</a:t>
            </a:r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dirty="0" err="1"/>
              <a:t>aras</a:t>
            </a:r>
            <a:r>
              <a:rPr lang="en-US" dirty="0"/>
              <a:t> global</a:t>
            </a:r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dirty="0" err="1"/>
              <a:t>aras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8089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8F78E-9E38-48B2-BDFC-F502534CF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Aras </a:t>
            </a:r>
            <a:r>
              <a:rPr lang="en-US" b="1" dirty="0" err="1"/>
              <a:t>Titik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E8498-D8EE-4C10-B742-FE65E9E7A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6904"/>
            <a:ext cx="10515600" cy="4351338"/>
          </a:xfrm>
        </p:spPr>
        <p:txBody>
          <a:bodyPr/>
          <a:lstStyle/>
          <a:p>
            <a:r>
              <a:rPr lang="en-US" dirty="0" err="1"/>
              <a:t>Operasi</a:t>
            </a:r>
            <a:r>
              <a:rPr lang="en-US" dirty="0"/>
              <a:t> pada </a:t>
            </a:r>
            <a:r>
              <a:rPr lang="en-US" dirty="0" err="1"/>
              <a:t>aras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pada </a:t>
            </a:r>
            <a:r>
              <a:rPr lang="en-US" i="1" dirty="0"/>
              <a:t>pixel</a:t>
            </a:r>
            <a:r>
              <a:rPr lang="en-US" dirty="0"/>
              <a:t> </a:t>
            </a:r>
            <a:r>
              <a:rPr lang="en-US" dirty="0" err="1"/>
              <a:t>tunggal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US" i="1" dirty="0" err="1"/>
              <a:t>f</a:t>
            </a:r>
            <a:r>
              <a:rPr lang="en-US" i="1" baseline="-25000" dirty="0" err="1"/>
              <a:t>B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) = </a:t>
            </a:r>
            <a:r>
              <a:rPr lang="en-US" i="1" dirty="0" err="1"/>
              <a:t>O</a:t>
            </a:r>
            <a:r>
              <a:rPr lang="en-US" baseline="-25000" dirty="0" err="1"/>
              <a:t>titik</a:t>
            </a:r>
            <a:r>
              <a:rPr lang="en-US" dirty="0"/>
              <a:t>{</a:t>
            </a:r>
            <a:r>
              <a:rPr lang="en-US" i="1" dirty="0" err="1"/>
              <a:t>f</a:t>
            </a:r>
            <a:r>
              <a:rPr lang="en-US" i="1" baseline="-25000" dirty="0" err="1"/>
              <a:t>A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)}	</a:t>
            </a:r>
          </a:p>
          <a:p>
            <a:endParaRPr lang="en-US" dirty="0"/>
          </a:p>
          <a:p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diulangi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keseluruhan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D608D3B-099A-4CCC-9EC8-072BCA106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3991" y="421419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24D658A-52E1-44AD-80F2-E69255B8F0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247154"/>
              </p:ext>
            </p:extLst>
          </p:nvPr>
        </p:nvGraphicFramePr>
        <p:xfrm>
          <a:off x="2951921" y="4287975"/>
          <a:ext cx="4560035" cy="2007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709672" imgH="1193292" progId="Visio.Drawing.5">
                  <p:embed/>
                </p:oleObj>
              </mc:Choice>
              <mc:Fallback>
                <p:oleObj r:id="rId2" imgW="2709672" imgH="1193292" progId="Visio.Drawing.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921" y="4287975"/>
                        <a:ext cx="4560035" cy="20076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0662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AF5B7-1501-433F-B733-D3C38725B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3730"/>
            <a:ext cx="10515600" cy="5153233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Contoh-contoh</a:t>
            </a:r>
            <a:r>
              <a:rPr lang="en-US" b="1" dirty="0"/>
              <a:t> </a:t>
            </a:r>
            <a:r>
              <a:rPr lang="en-US" b="1" dirty="0" err="1"/>
              <a:t>operasi</a:t>
            </a:r>
            <a:r>
              <a:rPr lang="en-US" b="1" dirty="0"/>
              <a:t> </a:t>
            </a:r>
            <a:r>
              <a:rPr lang="en-US" b="1" dirty="0" err="1"/>
              <a:t>titik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Pengambangan</a:t>
            </a:r>
            <a:r>
              <a:rPr lang="en-US" dirty="0"/>
              <a:t> (</a:t>
            </a:r>
            <a:r>
              <a:rPr lang="en-US" i="1" dirty="0"/>
              <a:t>thresholding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98E90C-FCC9-4A67-B056-8CC3360A3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668" y="2274404"/>
            <a:ext cx="4444052" cy="12738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C6A0B5F-60DB-4B94-820A-411DA118E390}"/>
              </a:ext>
            </a:extLst>
          </p:cNvPr>
          <p:cNvSpPr/>
          <p:nvPr/>
        </p:nvSpPr>
        <p:spPr>
          <a:xfrm>
            <a:off x="1040296" y="3893119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Jika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0 dan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1,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t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ransformasi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citra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hitam-putih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citra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biner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B08FFA-9BB3-4B87-9B2C-9BACBAD91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622" y="5268632"/>
            <a:ext cx="4697483" cy="1516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00107C-8751-4B30-BB92-85DFAD67C66E}"/>
              </a:ext>
            </a:extLst>
          </p:cNvPr>
          <p:cNvSpPr txBox="1"/>
          <p:nvPr/>
        </p:nvSpPr>
        <p:spPr>
          <a:xfrm>
            <a:off x="1049821" y="4904826"/>
            <a:ext cx="2289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Contoh</a:t>
            </a:r>
            <a:r>
              <a:rPr lang="en-US" sz="2400" dirty="0"/>
              <a:t> </a:t>
            </a:r>
            <a:r>
              <a:rPr lang="en-US" sz="2400" i="1" dirty="0"/>
              <a:t>T</a:t>
            </a:r>
            <a:r>
              <a:rPr lang="en-US" sz="2400" dirty="0"/>
              <a:t>  =  128: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30CA5F-B8E1-48A9-A3F3-4CC999238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768" y="2029628"/>
            <a:ext cx="3726982" cy="372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624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72D7C7-CBB2-4692-B277-C54D27C2B5AB}"/>
              </a:ext>
            </a:extLst>
          </p:cNvPr>
          <p:cNvSpPr/>
          <p:nvPr/>
        </p:nvSpPr>
        <p:spPr>
          <a:xfrm>
            <a:off x="1408042" y="891788"/>
            <a:ext cx="9753601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biner(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citra_biner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B, int T, int M, int N)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biner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ambang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(threshold) T yang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dispesifikasikan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Ukuran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 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N.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citra_biner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tipe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biner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*/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int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j;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citra_biner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for 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&lt;=M-1;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for (j=0; j&lt;=N-1;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if (A[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 &lt; T)        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B[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 = 0; 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else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B[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 = 1;  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 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4A882D-BF33-44E2-B903-53C0513B1F61}"/>
              </a:ext>
            </a:extLst>
          </p:cNvPr>
          <p:cNvSpPr/>
          <p:nvPr/>
        </p:nvSpPr>
        <p:spPr>
          <a:xfrm>
            <a:off x="3314203" y="5966212"/>
            <a:ext cx="51859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Algoritma</a:t>
            </a:r>
            <a:r>
              <a:rPr lang="en-US" b="1" i="1" dirty="0"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mengubah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citra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A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menjadi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citra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biner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AFCB72-40BE-4D32-B5F5-85F32722665F}"/>
              </a:ext>
            </a:extLst>
          </p:cNvPr>
          <p:cNvSpPr/>
          <p:nvPr/>
        </p:nvSpPr>
        <p:spPr>
          <a:xfrm>
            <a:off x="1292087" y="891788"/>
            <a:ext cx="10127974" cy="4801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74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E12E6-79F9-4A77-9EC5-E9914CDA4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5739"/>
            <a:ext cx="6122365" cy="548122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negatif</a:t>
            </a:r>
            <a:r>
              <a:rPr lang="en-US" dirty="0"/>
              <a:t>  </a:t>
            </a:r>
          </a:p>
          <a:p>
            <a:pPr indent="168275"/>
            <a:r>
              <a:rPr lang="en-US" dirty="0"/>
              <a:t>  </a:t>
            </a:r>
            <a:r>
              <a:rPr lang="en-US" dirty="0" err="1"/>
              <a:t>Seperti</a:t>
            </a:r>
            <a:r>
              <a:rPr lang="en-US" dirty="0"/>
              <a:t>  film </a:t>
            </a:r>
            <a:r>
              <a:rPr lang="en-US" dirty="0" err="1"/>
              <a:t>negatif</a:t>
            </a:r>
            <a:r>
              <a:rPr lang="en-US" dirty="0"/>
              <a:t> pada </a:t>
            </a:r>
            <a:r>
              <a:rPr lang="en-US" dirty="0" err="1"/>
              <a:t>fotografi</a:t>
            </a:r>
            <a:r>
              <a:rPr lang="en-US" dirty="0"/>
              <a:t>.</a:t>
            </a:r>
          </a:p>
          <a:p>
            <a:pPr indent="60325"/>
            <a:r>
              <a:rPr lang="en-US" dirty="0"/>
              <a:t>   </a:t>
            </a:r>
            <a:r>
              <a:rPr lang="en-US" dirty="0" err="1"/>
              <a:t>Caranya</a:t>
            </a:r>
            <a:r>
              <a:rPr lang="en-US" dirty="0"/>
              <a:t>: </a:t>
            </a:r>
            <a:r>
              <a:rPr lang="en-US" dirty="0" err="1"/>
              <a:t>kurangi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intensitas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i="1" dirty="0"/>
              <a:t>pixel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keabuan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Contoh</a:t>
            </a:r>
            <a:r>
              <a:rPr lang="en-US" dirty="0"/>
              <a:t> pada </a:t>
            </a:r>
            <a:r>
              <a:rPr lang="en-US" dirty="0" err="1"/>
              <a:t>citra</a:t>
            </a:r>
            <a:r>
              <a:rPr lang="en-US" dirty="0"/>
              <a:t>  </a:t>
            </a:r>
            <a:r>
              <a:rPr lang="en-US" i="1" dirty="0"/>
              <a:t>grayscale</a:t>
            </a:r>
            <a:r>
              <a:rPr lang="en-US" dirty="0"/>
              <a:t> 8-bit: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544862-CD2F-454E-A94B-4E8B2F373613}"/>
              </a:ext>
            </a:extLst>
          </p:cNvPr>
          <p:cNvSpPr/>
          <p:nvPr/>
        </p:nvSpPr>
        <p:spPr>
          <a:xfrm>
            <a:off x="1769960" y="4158735"/>
            <a:ext cx="38779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)’ = 255 –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   	</a:t>
            </a:r>
            <a:endParaRPr lang="en-US" sz="2800" dirty="0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9BF4B0BC-3ABC-4A56-B08E-4CA4E7B0D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566" y="1288429"/>
            <a:ext cx="4281142" cy="4281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136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C80032-AD72-4018-810C-8F8DD0266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96" y="1622010"/>
            <a:ext cx="4831522" cy="36139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0EB7E0-3D08-40E0-AC79-1AC8BFAAE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005" y="1230243"/>
            <a:ext cx="6998995" cy="494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2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E0CD40-EE67-42D8-96D9-2ABECD534D37}"/>
              </a:ext>
            </a:extLst>
          </p:cNvPr>
          <p:cNvSpPr/>
          <p:nvPr/>
        </p:nvSpPr>
        <p:spPr>
          <a:xfrm>
            <a:off x="1696277" y="1354388"/>
            <a:ext cx="903798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negatif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B, int M, int N)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negatif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A.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Hasilnya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disimpan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B.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Ukuran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 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N.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*/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int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j;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for 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&lt;=M-1;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for (j=0; j&lt;=N-1;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B[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 = 255 - A[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][j];          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BDD6E7-F218-4502-AE89-9491874AEF11}"/>
              </a:ext>
            </a:extLst>
          </p:cNvPr>
          <p:cNvSpPr/>
          <p:nvPr/>
        </p:nvSpPr>
        <p:spPr>
          <a:xfrm>
            <a:off x="1457740" y="1073426"/>
            <a:ext cx="9525000" cy="3876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76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A555F-3BE5-4855-8207-2E6261B85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5313"/>
            <a:ext cx="10870096" cy="54116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3. </a:t>
            </a:r>
            <a:r>
              <a:rPr lang="en-US" dirty="0" err="1"/>
              <a:t>Pencerahan</a:t>
            </a:r>
            <a:r>
              <a:rPr lang="en-US" dirty="0"/>
              <a:t> Citra (</a:t>
            </a:r>
            <a:r>
              <a:rPr lang="en-US" i="1" dirty="0"/>
              <a:t>image brightening</a:t>
            </a:r>
            <a:r>
              <a:rPr lang="en-US" dirty="0"/>
              <a:t>) </a:t>
            </a:r>
          </a:p>
          <a:p>
            <a:r>
              <a:rPr lang="en-US" dirty="0" err="1"/>
              <a:t>Kecerahan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diperbaiki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menambahkan</a:t>
            </a:r>
            <a:r>
              <a:rPr lang="en-US" dirty="0"/>
              <a:t>/</a:t>
            </a:r>
            <a:r>
              <a:rPr lang="en-US" dirty="0" err="1"/>
              <a:t>mengurangkan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konstanta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(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)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i="1" dirty="0"/>
              <a:t>pixel. 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positif</a:t>
            </a:r>
            <a:r>
              <a:rPr lang="en-US" dirty="0"/>
              <a:t>, </a:t>
            </a:r>
            <a:r>
              <a:rPr lang="en-US" dirty="0" err="1"/>
              <a:t>kecerahan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bertambah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negatif</a:t>
            </a:r>
            <a:r>
              <a:rPr lang="en-US" dirty="0"/>
              <a:t> </a:t>
            </a:r>
            <a:r>
              <a:rPr lang="en-US" dirty="0" err="1"/>
              <a:t>kecerahan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berkurang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i="1" dirty="0"/>
              <a:t>clipping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f(</a:t>
            </a:r>
            <a:r>
              <a:rPr lang="en-US" dirty="0" err="1"/>
              <a:t>x,y</a:t>
            </a:r>
            <a:r>
              <a:rPr lang="en-US" dirty="0"/>
              <a:t>)’ </a:t>
            </a:r>
            <a:r>
              <a:rPr lang="en-US" dirty="0" err="1"/>
              <a:t>berada</a:t>
            </a:r>
            <a:r>
              <a:rPr lang="en-US" dirty="0"/>
              <a:t> di </a:t>
            </a:r>
            <a:r>
              <a:rPr lang="en-US" dirty="0" err="1"/>
              <a:t>bawah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intensitas</a:t>
            </a:r>
            <a:r>
              <a:rPr lang="en-US" dirty="0"/>
              <a:t> minimum </a:t>
            </a:r>
            <a:r>
              <a:rPr lang="en-US" dirty="0" err="1"/>
              <a:t>atau</a:t>
            </a:r>
            <a:r>
              <a:rPr lang="en-US" dirty="0"/>
              <a:t> d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intensitas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AC8B24-AFF2-4A3E-9F30-8DD07E7D9B88}"/>
              </a:ext>
            </a:extLst>
          </p:cNvPr>
          <p:cNvSpPr/>
          <p:nvPr/>
        </p:nvSpPr>
        <p:spPr>
          <a:xfrm>
            <a:off x="1644507" y="2409446"/>
            <a:ext cx="25823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)’ =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 +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4C7E00-0800-4E64-840D-7948382F4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507" y="5181510"/>
            <a:ext cx="4945464" cy="139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670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>
            <a:extLst>
              <a:ext uri="{FF2B5EF4-FFF2-40B4-BE49-F238E27FC236}">
                <a16:creationId xmlns:a16="http://schemas.microsoft.com/office/drawing/2014/main" id="{9B0FDB8D-EAB3-4498-9AE6-1C5BF7477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511" y="1098067"/>
            <a:ext cx="3871498" cy="3871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>
            <a:extLst>
              <a:ext uri="{FF2B5EF4-FFF2-40B4-BE49-F238E27FC236}">
                <a16:creationId xmlns:a16="http://schemas.microsoft.com/office/drawing/2014/main" id="{451F186C-8A35-458F-B109-A56D4205A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98067"/>
            <a:ext cx="3871497" cy="3871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A8AC7E-B65C-4225-B57B-4028ACBE13CB}"/>
              </a:ext>
            </a:extLst>
          </p:cNvPr>
          <p:cNvSpPr/>
          <p:nvPr/>
        </p:nvSpPr>
        <p:spPr>
          <a:xfrm>
            <a:off x="1726094" y="5282504"/>
            <a:ext cx="92665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Gambar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Kiri: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citra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Zelda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agak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gelap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);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kanan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citra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Zelda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setelah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operasi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pencerahan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citra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100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03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CEDE2E-43F0-4701-9CF6-EDCE8EBC14FC}"/>
              </a:ext>
            </a:extLst>
          </p:cNvPr>
          <p:cNvSpPr/>
          <p:nvPr/>
        </p:nvSpPr>
        <p:spPr>
          <a:xfrm>
            <a:off x="934278" y="524939"/>
            <a:ext cx="10684565" cy="6014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image_brightening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A, int b,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B, int M, int N)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Pencerahan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menjumlahkan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pixel di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skalar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b. Hasil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disimpan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B. Citra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berukuran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 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N. */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int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j, temp;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for 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&lt;=M-1;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for (j=0; j&lt;=N-1;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temp = A[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 + b;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clipping */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if (temp &lt; 0)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B[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 = 0; 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else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if (temp &gt; 255)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B[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][j]=255;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else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B[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][j]=temp;	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735F7E-916D-4532-B239-E35EF1DA225E}"/>
              </a:ext>
            </a:extLst>
          </p:cNvPr>
          <p:cNvSpPr/>
          <p:nvPr/>
        </p:nvSpPr>
        <p:spPr>
          <a:xfrm>
            <a:off x="573157" y="318914"/>
            <a:ext cx="11204712" cy="63601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9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38200"/>
            <a:ext cx="10515600" cy="53387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4. </a:t>
            </a:r>
            <a:r>
              <a:rPr lang="en-US" dirty="0" err="1"/>
              <a:t>Konversi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berwarna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i="1" dirty="0"/>
              <a:t>grayscale </a:t>
            </a:r>
          </a:p>
          <a:p>
            <a:endParaRPr lang="en-US" dirty="0"/>
          </a:p>
          <a:p>
            <a:r>
              <a:rPr lang="en-US" sz="2400" dirty="0" err="1"/>
              <a:t>Konversi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kanal</a:t>
            </a:r>
            <a:r>
              <a:rPr lang="en-US" sz="2400" dirty="0"/>
              <a:t> RGB </a:t>
            </a:r>
            <a:r>
              <a:rPr lang="en-US" sz="2400" dirty="0" err="1"/>
              <a:t>menjadi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kanal</a:t>
            </a:r>
            <a:r>
              <a:rPr lang="en-US" sz="2400" dirty="0"/>
              <a:t> Y (</a:t>
            </a:r>
            <a:r>
              <a:rPr lang="en-US" sz="2400" i="1" dirty="0"/>
              <a:t>luminance</a:t>
            </a:r>
            <a:r>
              <a:rPr lang="en-US" sz="2400" dirty="0"/>
              <a:t>)</a:t>
            </a:r>
          </a:p>
          <a:p>
            <a:r>
              <a:rPr lang="en-US" sz="2400" dirty="0"/>
              <a:t>Cara paling </a:t>
            </a:r>
            <a:r>
              <a:rPr lang="en-US" sz="2400" dirty="0" err="1"/>
              <a:t>sederhana</a:t>
            </a:r>
            <a:r>
              <a:rPr lang="en-US" sz="2400" dirty="0"/>
              <a:t>:    </a:t>
            </a:r>
            <a:r>
              <a:rPr lang="en-US" sz="2400" i="1" dirty="0"/>
              <a:t>Y</a:t>
            </a:r>
            <a:r>
              <a:rPr lang="en-US" sz="2400" dirty="0"/>
              <a:t> = (</a:t>
            </a:r>
            <a:r>
              <a:rPr lang="en-US" sz="2400" i="1" dirty="0"/>
              <a:t>R</a:t>
            </a:r>
            <a:r>
              <a:rPr lang="en-US" sz="2400" dirty="0"/>
              <a:t> + </a:t>
            </a:r>
            <a:r>
              <a:rPr lang="en-US" sz="2400" i="1" dirty="0"/>
              <a:t>G </a:t>
            </a:r>
            <a:r>
              <a:rPr lang="en-US" sz="2400" dirty="0"/>
              <a:t>+ </a:t>
            </a:r>
            <a:r>
              <a:rPr lang="en-US" sz="2400" i="1" dirty="0"/>
              <a:t>B</a:t>
            </a:r>
            <a:r>
              <a:rPr lang="en-US" sz="2400" dirty="0"/>
              <a:t>)/3</a:t>
            </a:r>
          </a:p>
          <a:p>
            <a:r>
              <a:rPr lang="en-US" sz="2400" dirty="0"/>
              <a:t>Hasil yang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baik</a:t>
            </a:r>
            <a:r>
              <a:rPr lang="en-US" sz="2400" dirty="0"/>
              <a:t>:  </a:t>
            </a:r>
            <a:r>
              <a:rPr lang="en-US" sz="2400" i="1" dirty="0"/>
              <a:t>Y</a:t>
            </a:r>
            <a:r>
              <a:rPr lang="en-US" sz="2400" dirty="0"/>
              <a:t> = 0.299</a:t>
            </a:r>
            <a:r>
              <a:rPr lang="en-US" sz="2400" i="1" dirty="0"/>
              <a:t>R</a:t>
            </a:r>
            <a:r>
              <a:rPr lang="en-US" sz="2400" dirty="0"/>
              <a:t> + 0.587</a:t>
            </a:r>
            <a:r>
              <a:rPr lang="en-US" sz="2400" i="1" dirty="0"/>
              <a:t>G</a:t>
            </a:r>
            <a:r>
              <a:rPr lang="en-US" sz="2400" dirty="0"/>
              <a:t> + 0.144</a:t>
            </a:r>
            <a:r>
              <a:rPr lang="en-US" sz="2400" i="1" dirty="0"/>
              <a:t>B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973" y="3507581"/>
            <a:ext cx="2746626" cy="27466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218" y="3132913"/>
            <a:ext cx="4651963" cy="381217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25386" y="4300248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Y</a:t>
            </a:r>
            <a:r>
              <a:rPr lang="en-US" dirty="0"/>
              <a:t> = (</a:t>
            </a:r>
            <a:r>
              <a:rPr lang="en-US" i="1" dirty="0"/>
              <a:t>R</a:t>
            </a:r>
            <a:r>
              <a:rPr lang="en-US" dirty="0"/>
              <a:t> + </a:t>
            </a:r>
            <a:r>
              <a:rPr lang="en-US" i="1" dirty="0"/>
              <a:t>G </a:t>
            </a:r>
            <a:r>
              <a:rPr lang="en-US" dirty="0"/>
              <a:t>+ </a:t>
            </a:r>
            <a:r>
              <a:rPr lang="en-US" i="1" dirty="0"/>
              <a:t>B</a:t>
            </a:r>
            <a:r>
              <a:rPr lang="en-US" dirty="0"/>
              <a:t>)/3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25386" y="4669580"/>
            <a:ext cx="1788328" cy="211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616917" y="6176963"/>
            <a:ext cx="1521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bagus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52853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45" y="1667895"/>
            <a:ext cx="2746626" cy="27466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182" y="1369428"/>
            <a:ext cx="4636761" cy="379971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33595" y="2671876"/>
            <a:ext cx="29338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Y</a:t>
            </a:r>
            <a:r>
              <a:rPr lang="en-US" dirty="0"/>
              <a:t> = 0.299</a:t>
            </a:r>
            <a:r>
              <a:rPr lang="en-US" i="1" dirty="0"/>
              <a:t>R</a:t>
            </a:r>
            <a:r>
              <a:rPr lang="en-US" dirty="0"/>
              <a:t> + 0.587</a:t>
            </a:r>
            <a:r>
              <a:rPr lang="en-US" i="1" dirty="0"/>
              <a:t>G</a:t>
            </a:r>
            <a:r>
              <a:rPr lang="en-US" dirty="0"/>
              <a:t> + 0.144</a:t>
            </a:r>
            <a:r>
              <a:rPr lang="en-US" i="1" dirty="0"/>
              <a:t>B</a:t>
            </a:r>
            <a:endParaRPr lang="en-US" dirty="0"/>
          </a:p>
        </p:txBody>
      </p:sp>
      <p:sp>
        <p:nvSpPr>
          <p:cNvPr id="5" name="Right Arrow 4"/>
          <p:cNvSpPr/>
          <p:nvPr/>
        </p:nvSpPr>
        <p:spPr>
          <a:xfrm>
            <a:off x="4297340" y="3214856"/>
            <a:ext cx="2342946" cy="1706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780964" y="4092634"/>
            <a:ext cx="137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bagus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32388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68EB8-F83B-449A-B7DD-8E9C69FD3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4005"/>
            <a:ext cx="10515600" cy="1325563"/>
          </a:xfrm>
        </p:spPr>
        <p:txBody>
          <a:bodyPr/>
          <a:lstStyle/>
          <a:p>
            <a:r>
              <a:rPr lang="en-US" b="1" dirty="0"/>
              <a:t>2. Aras </a:t>
            </a:r>
            <a:r>
              <a:rPr lang="en-US" b="1" dirty="0" err="1"/>
              <a:t>Lokal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9015-3B22-4508-A60F-B6CDA46C2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err="1"/>
              <a:t>Operasi</a:t>
            </a:r>
            <a:r>
              <a:rPr lang="en-US" dirty="0"/>
              <a:t> pada </a:t>
            </a:r>
            <a:r>
              <a:rPr lang="en-US" dirty="0" err="1"/>
              <a:t>aras</a:t>
            </a:r>
            <a:r>
              <a:rPr lang="en-US" dirty="0"/>
              <a:t> </a:t>
            </a:r>
            <a:r>
              <a:rPr lang="en-US" dirty="0" err="1"/>
              <a:t>lokal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luaran</a:t>
            </a:r>
            <a:r>
              <a:rPr lang="en-US" dirty="0"/>
              <a:t> yang </a:t>
            </a:r>
            <a:r>
              <a:rPr lang="en-US" dirty="0" err="1"/>
              <a:t>intensitas</a:t>
            </a:r>
            <a:r>
              <a:rPr lang="en-US" dirty="0"/>
              <a:t>  </a:t>
            </a:r>
            <a:r>
              <a:rPr lang="en-US" i="1" dirty="0"/>
              <a:t>pixel-</a:t>
            </a:r>
            <a:r>
              <a:rPr lang="en-US" i="1" dirty="0" err="1"/>
              <a:t>nya</a:t>
            </a:r>
            <a:r>
              <a:rPr lang="en-US" dirty="0"/>
              <a:t> </a:t>
            </a:r>
            <a:r>
              <a:rPr lang="en-US" dirty="0" err="1"/>
              <a:t>bergantung</a:t>
            </a:r>
            <a:r>
              <a:rPr lang="en-US" dirty="0"/>
              <a:t> pada </a:t>
            </a:r>
            <a:r>
              <a:rPr lang="en-US" dirty="0" err="1"/>
              <a:t>intensitas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-</a:t>
            </a:r>
            <a:r>
              <a:rPr lang="en-US" i="1" dirty="0"/>
              <a:t>pixel</a:t>
            </a:r>
            <a:r>
              <a:rPr lang="en-US" dirty="0"/>
              <a:t> </a:t>
            </a:r>
            <a:r>
              <a:rPr lang="en-US" dirty="0" err="1"/>
              <a:t>tetangganya</a:t>
            </a:r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C5392D-C3F1-4854-A8C9-2226FC476758}"/>
              </a:ext>
            </a:extLst>
          </p:cNvPr>
          <p:cNvSpPr/>
          <p:nvPr/>
        </p:nvSpPr>
        <p:spPr>
          <a:xfrm>
            <a:off x="1484683" y="2905780"/>
            <a:ext cx="65117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)’ = 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sz="2800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lokal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{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);	(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 }</a:t>
            </a: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745578-899B-4EB0-BADF-EA61155B4713}"/>
              </a:ext>
            </a:extLst>
          </p:cNvPr>
          <p:cNvSpPr/>
          <p:nvPr/>
        </p:nvSpPr>
        <p:spPr>
          <a:xfrm>
            <a:off x="1030356" y="3678128"/>
            <a:ext cx="87099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keterangan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neighborhood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yaitu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pixel-pixel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berada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sekitar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 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DA18928-492E-4107-8D28-48676B7C7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2347" y="442006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81FDC00-8721-4EDF-B96C-CE486A6530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264692"/>
              </p:ext>
            </p:extLst>
          </p:nvPr>
        </p:nvGraphicFramePr>
        <p:xfrm>
          <a:off x="2633869" y="4305871"/>
          <a:ext cx="5487574" cy="2187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73196" imgH="1383792" progId="Visio.Drawing.5">
                  <p:embed/>
                </p:oleObj>
              </mc:Choice>
              <mc:Fallback>
                <p:oleObj r:id="rId2" imgW="3473196" imgH="1383792" progId="Visio.Drawing.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869" y="4305871"/>
                        <a:ext cx="5487574" cy="21870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1065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F1756-FAAA-4B32-9B83-4855CEEE5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4704"/>
            <a:ext cx="10515600" cy="5312259"/>
          </a:xfrm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beraras</a:t>
            </a:r>
            <a:r>
              <a:rPr lang="en-US" dirty="0"/>
              <a:t> </a:t>
            </a:r>
            <a:r>
              <a:rPr lang="en-US" dirty="0" err="1"/>
              <a:t>lokal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konvolusi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mendeteksi</a:t>
            </a:r>
            <a:r>
              <a:rPr lang="en-US" dirty="0"/>
              <a:t> </a:t>
            </a:r>
            <a:r>
              <a:rPr lang="en-US" dirty="0" err="1"/>
              <a:t>tepi</a:t>
            </a:r>
            <a:r>
              <a:rPr lang="en-US" dirty="0"/>
              <a:t> (</a:t>
            </a:r>
            <a:r>
              <a:rPr lang="en-US" i="1" dirty="0"/>
              <a:t>edge detection</a:t>
            </a:r>
            <a:r>
              <a:rPr lang="en-US" dirty="0"/>
              <a:t>) dan </a:t>
            </a:r>
            <a:r>
              <a:rPr lang="en-US" dirty="0" err="1"/>
              <a:t>pelembutan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(</a:t>
            </a:r>
            <a:r>
              <a:rPr lang="en-US" i="1" dirty="0"/>
              <a:t>image smoothing</a:t>
            </a:r>
            <a:r>
              <a:rPr lang="en-US" dirty="0"/>
              <a:t>). </a:t>
            </a:r>
            <a:r>
              <a:rPr lang="en-US" dirty="0">
                <a:solidFill>
                  <a:srgbClr val="FF0000"/>
                </a:solidFill>
              </a:rPr>
              <a:t>Akan </a:t>
            </a:r>
            <a:r>
              <a:rPr lang="en-US" dirty="0" err="1">
                <a:solidFill>
                  <a:srgbClr val="FF0000"/>
                </a:solidFill>
              </a:rPr>
              <a:t>dijelaskan</a:t>
            </a:r>
            <a:r>
              <a:rPr lang="en-US" dirty="0">
                <a:solidFill>
                  <a:srgbClr val="FF0000"/>
                </a:solidFill>
              </a:rPr>
              <a:t> pada </a:t>
            </a:r>
            <a:r>
              <a:rPr lang="en-US" dirty="0" err="1">
                <a:solidFill>
                  <a:srgbClr val="FF0000"/>
                </a:solidFill>
              </a:rPr>
              <a:t>kuliah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selanjutnya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C4B89A10-3F60-4704-8B86-FD216B4D7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728" y="2487163"/>
            <a:ext cx="3923575" cy="392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2435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8AE58-EE09-492E-8990-6C58F1D3E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Aras Global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81CE6-9A44-4192-95C4-A17056F41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4137"/>
          </a:xfrm>
        </p:spPr>
        <p:txBody>
          <a:bodyPr>
            <a:normAutofit/>
          </a:bodyPr>
          <a:lstStyle/>
          <a:p>
            <a:r>
              <a:rPr lang="en-US" dirty="0" err="1"/>
              <a:t>Operasi</a:t>
            </a:r>
            <a:r>
              <a:rPr lang="en-US" dirty="0"/>
              <a:t> pada </a:t>
            </a:r>
            <a:r>
              <a:rPr lang="en-US" dirty="0" err="1"/>
              <a:t>aras</a:t>
            </a:r>
            <a:r>
              <a:rPr lang="en-US" dirty="0"/>
              <a:t> global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keluaran</a:t>
            </a:r>
            <a:r>
              <a:rPr lang="en-US" dirty="0"/>
              <a:t> yang </a:t>
            </a:r>
            <a:r>
              <a:rPr lang="en-US" dirty="0" err="1"/>
              <a:t>intensitas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 </a:t>
            </a:r>
            <a:r>
              <a:rPr lang="en-US" dirty="0" err="1"/>
              <a:t>bergantung</a:t>
            </a:r>
            <a:r>
              <a:rPr lang="en-US" dirty="0"/>
              <a:t> pada </a:t>
            </a:r>
            <a:r>
              <a:rPr lang="en-US" dirty="0" err="1"/>
              <a:t>intensitas</a:t>
            </a:r>
            <a:r>
              <a:rPr lang="en-US" dirty="0"/>
              <a:t> </a:t>
            </a:r>
            <a:r>
              <a:rPr lang="en-US" dirty="0" err="1"/>
              <a:t>keseluruhan</a:t>
            </a:r>
            <a:r>
              <a:rPr lang="en-US" dirty="0"/>
              <a:t> </a:t>
            </a:r>
            <a:r>
              <a:rPr lang="en-US" i="1" dirty="0"/>
              <a:t>pixel.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beraras</a:t>
            </a:r>
            <a:r>
              <a:rPr lang="en-US" dirty="0"/>
              <a:t> global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penyetaraan</a:t>
            </a:r>
            <a:r>
              <a:rPr lang="en-US" dirty="0"/>
              <a:t> histogram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meningkatkan</a:t>
            </a:r>
            <a:r>
              <a:rPr lang="en-US" dirty="0"/>
              <a:t> </a:t>
            </a:r>
            <a:r>
              <a:rPr lang="en-US" dirty="0" err="1"/>
              <a:t>kualitas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olidFill>
                  <a:srgbClr val="FF0000"/>
                </a:solidFill>
              </a:rPr>
              <a:t>akan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dibahas</a:t>
            </a:r>
            <a:r>
              <a:rPr lang="en-US" dirty="0">
                <a:solidFill>
                  <a:srgbClr val="FF0000"/>
                </a:solidFill>
              </a:rPr>
              <a:t> pada </a:t>
            </a:r>
            <a:r>
              <a:rPr lang="en-US" dirty="0" err="1">
                <a:solidFill>
                  <a:srgbClr val="FF0000"/>
                </a:solidFill>
              </a:rPr>
              <a:t>kuliah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selanjutnya</a:t>
            </a:r>
            <a:r>
              <a:rPr lang="en-US" dirty="0">
                <a:solidFill>
                  <a:srgbClr val="FF0000"/>
                </a:solidFill>
              </a:rPr>
              <a:t>. 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3FEECC-5976-4226-AE27-080467C45703}"/>
              </a:ext>
            </a:extLst>
          </p:cNvPr>
          <p:cNvSpPr/>
          <p:nvPr/>
        </p:nvSpPr>
        <p:spPr>
          <a:xfrm>
            <a:off x="1461447" y="3060699"/>
            <a:ext cx="38288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)’ = 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sz="2800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global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{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)}</a:t>
            </a:r>
            <a:endParaRPr lang="en-US" sz="2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B91ABF7-6378-4FCE-AF71-CFFDA3615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1721" y="38170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C68A3AD-72F7-4F77-89FC-3A99F2ED54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6053058"/>
              </p:ext>
            </p:extLst>
          </p:nvPr>
        </p:nvGraphicFramePr>
        <p:xfrm>
          <a:off x="6041027" y="2868127"/>
          <a:ext cx="4799252" cy="2202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015996" imgH="1383792" progId="Visio.Drawing.5">
                  <p:embed/>
                </p:oleObj>
              </mc:Choice>
              <mc:Fallback>
                <p:oleObj r:id="rId2" imgW="3015996" imgH="1383792" progId="Visio.Drawing.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1027" y="2868127"/>
                        <a:ext cx="4799252" cy="22026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3291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35961-DF16-4FE0-A344-ED0CFF9C9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Aras </a:t>
            </a:r>
            <a:r>
              <a:rPr lang="en-US" b="1" dirty="0" err="1"/>
              <a:t>Objek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A9C0E-633E-4BE9-8282-3A6BA0382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pada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pada </a:t>
            </a:r>
            <a:r>
              <a:rPr lang="en-US" dirty="0" err="1"/>
              <a:t>aras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mendeteksi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dan </a:t>
            </a:r>
            <a:r>
              <a:rPr lang="en-US" dirty="0" err="1"/>
              <a:t>mengenali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, </a:t>
            </a:r>
            <a:r>
              <a:rPr lang="en-US" dirty="0" err="1"/>
              <a:t>bentuk</a:t>
            </a:r>
            <a:r>
              <a:rPr lang="en-US" dirty="0"/>
              <a:t>, dan </a:t>
            </a:r>
            <a:r>
              <a:rPr lang="en-US" dirty="0" err="1"/>
              <a:t>karakteristik</a:t>
            </a:r>
            <a:r>
              <a:rPr lang="en-US" dirty="0"/>
              <a:t> lain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aras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yang </a:t>
            </a:r>
            <a:r>
              <a:rPr lang="en-US" dirty="0" err="1"/>
              <a:t>kompleks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menjawab</a:t>
            </a:r>
            <a:r>
              <a:rPr lang="en-US" dirty="0"/>
              <a:t>: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, </a:t>
            </a:r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menemukannya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841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31D4C32F-2934-4FEE-835F-0E84FF287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225" y="474287"/>
            <a:ext cx="8391550" cy="47276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9D2B8A-BAC9-4F24-8831-0B471A42FD73}"/>
              </a:ext>
            </a:extLst>
          </p:cNvPr>
          <p:cNvSpPr txBox="1"/>
          <p:nvPr/>
        </p:nvSpPr>
        <p:spPr>
          <a:xfrm>
            <a:off x="1696720" y="5635675"/>
            <a:ext cx="1007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Sumber</a:t>
            </a:r>
            <a:r>
              <a:rPr lang="en-US" dirty="0"/>
              <a:t>:  Rafflesia Khan &amp; </a:t>
            </a:r>
            <a:r>
              <a:rPr lang="en-US" dirty="0" err="1"/>
              <a:t>Rameswar</a:t>
            </a:r>
            <a:r>
              <a:rPr lang="en-US" dirty="0"/>
              <a:t> Debnath, </a:t>
            </a:r>
            <a:r>
              <a:rPr lang="en-US" i="1" dirty="0"/>
              <a:t>Multi class fruit classification using efficient object detection and recognition techniques</a:t>
            </a:r>
          </a:p>
        </p:txBody>
      </p:sp>
    </p:spTree>
    <p:extLst>
      <p:ext uri="{BB962C8B-B14F-4D97-AF65-F5344CB8AC3E}">
        <p14:creationId xmlns:p14="http://schemas.microsoft.com/office/powerpoint/2010/main" val="3470445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E6E39-2616-4263-A75D-46FB14AD6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+mn-lt"/>
              </a:rPr>
              <a:t>Operasi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Aritmetika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49941-DBB3-4DE5-BEAA-11669FFF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9104"/>
            <a:ext cx="10711070" cy="48502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dirty="0"/>
              <a:t>Karena </a:t>
            </a:r>
            <a:r>
              <a:rPr lang="en-US" sz="2600" dirty="0" err="1"/>
              <a:t>citra</a:t>
            </a:r>
            <a:r>
              <a:rPr lang="en-US" sz="2600" dirty="0"/>
              <a:t> digital </a:t>
            </a:r>
            <a:r>
              <a:rPr lang="en-US" sz="2600" dirty="0" err="1"/>
              <a:t>adalah</a:t>
            </a:r>
            <a:r>
              <a:rPr lang="en-US" sz="2600" dirty="0"/>
              <a:t> </a:t>
            </a:r>
            <a:r>
              <a:rPr lang="en-US" sz="2600" dirty="0" err="1"/>
              <a:t>matriks</a:t>
            </a:r>
            <a:r>
              <a:rPr lang="en-US" sz="2600" dirty="0"/>
              <a:t>, </a:t>
            </a:r>
            <a:r>
              <a:rPr lang="en-US" sz="2600" dirty="0" err="1"/>
              <a:t>maka</a:t>
            </a:r>
            <a:r>
              <a:rPr lang="en-US" sz="2600" dirty="0"/>
              <a:t> </a:t>
            </a:r>
            <a:r>
              <a:rPr lang="en-US" sz="2600" dirty="0" err="1"/>
              <a:t>operasi-operasi</a:t>
            </a:r>
            <a:r>
              <a:rPr lang="en-US" sz="2600" dirty="0"/>
              <a:t> </a:t>
            </a:r>
            <a:r>
              <a:rPr lang="en-US" sz="2600" dirty="0" err="1"/>
              <a:t>aritmetika</a:t>
            </a:r>
            <a:r>
              <a:rPr lang="en-US" sz="2600" dirty="0"/>
              <a:t> </a:t>
            </a:r>
            <a:r>
              <a:rPr lang="en-US" sz="2600" dirty="0" err="1"/>
              <a:t>matriks</a:t>
            </a:r>
            <a:r>
              <a:rPr lang="en-US" sz="2600" dirty="0"/>
              <a:t> juga </a:t>
            </a:r>
            <a:r>
              <a:rPr lang="en-US" sz="2600" dirty="0" err="1"/>
              <a:t>berlaku</a:t>
            </a:r>
            <a:r>
              <a:rPr lang="en-US" sz="2600" dirty="0"/>
              <a:t> pada </a:t>
            </a:r>
            <a:r>
              <a:rPr lang="en-US" sz="2600" dirty="0" err="1"/>
              <a:t>citra</a:t>
            </a:r>
            <a:r>
              <a:rPr lang="en-US" sz="2600" dirty="0"/>
              <a:t>. </a:t>
            </a:r>
            <a:r>
              <a:rPr lang="en-US" sz="2600" dirty="0" err="1"/>
              <a:t>Operasi</a:t>
            </a:r>
            <a:r>
              <a:rPr lang="en-US" sz="2600" dirty="0"/>
              <a:t> </a:t>
            </a:r>
            <a:r>
              <a:rPr lang="en-US" sz="2600" dirty="0" err="1"/>
              <a:t>matriks</a:t>
            </a:r>
            <a:r>
              <a:rPr lang="en-US" sz="2600" dirty="0"/>
              <a:t> yang </a:t>
            </a:r>
            <a:r>
              <a:rPr lang="en-US" sz="2600" dirty="0" err="1"/>
              <a:t>dapat</a:t>
            </a:r>
            <a:r>
              <a:rPr lang="en-US" sz="2600" dirty="0"/>
              <a:t> </a:t>
            </a:r>
            <a:r>
              <a:rPr lang="en-US" sz="2600" dirty="0" err="1"/>
              <a:t>dilakukan</a:t>
            </a:r>
            <a:r>
              <a:rPr lang="en-US" sz="2600" dirty="0"/>
              <a:t> </a:t>
            </a:r>
            <a:r>
              <a:rPr lang="en-US" sz="2600" dirty="0" err="1"/>
              <a:t>adalah</a:t>
            </a:r>
            <a:r>
              <a:rPr lang="en-US" sz="2600" dirty="0"/>
              <a:t>:</a:t>
            </a:r>
          </a:p>
          <a:p>
            <a:pPr marL="0" lvl="0" indent="0">
              <a:buNone/>
            </a:pPr>
            <a:endParaRPr lang="en-US" sz="2600" dirty="0"/>
          </a:p>
          <a:p>
            <a:r>
              <a:rPr lang="en-US" sz="2600" dirty="0" err="1"/>
              <a:t>Penjumlahan</a:t>
            </a:r>
            <a:r>
              <a:rPr lang="en-US" sz="2600" dirty="0"/>
              <a:t>/</a:t>
            </a:r>
            <a:r>
              <a:rPr lang="en-US" sz="2600" dirty="0" err="1"/>
              <a:t>pengurangan</a:t>
            </a:r>
            <a:r>
              <a:rPr lang="en-US" sz="2600" dirty="0"/>
              <a:t> </a:t>
            </a:r>
            <a:r>
              <a:rPr lang="en-US" sz="2600" dirty="0" err="1"/>
              <a:t>citra</a:t>
            </a:r>
            <a:r>
              <a:rPr lang="en-US" sz="2600" dirty="0"/>
              <a:t>:  </a:t>
            </a:r>
            <a:r>
              <a:rPr lang="en-US" sz="2600" i="1" dirty="0">
                <a:solidFill>
                  <a:srgbClr val="FF0000"/>
                </a:solidFill>
              </a:rPr>
              <a:t>C</a:t>
            </a:r>
            <a:r>
              <a:rPr lang="en-US" sz="2600" dirty="0">
                <a:solidFill>
                  <a:srgbClr val="FF0000"/>
                </a:solidFill>
              </a:rPr>
              <a:t>(</a:t>
            </a:r>
            <a:r>
              <a:rPr lang="en-US" sz="2600" i="1" dirty="0">
                <a:solidFill>
                  <a:srgbClr val="FF0000"/>
                </a:solidFill>
              </a:rPr>
              <a:t>x</a:t>
            </a:r>
            <a:r>
              <a:rPr lang="en-US" sz="2600" dirty="0">
                <a:solidFill>
                  <a:srgbClr val="FF0000"/>
                </a:solidFill>
              </a:rPr>
              <a:t>, </a:t>
            </a:r>
            <a:r>
              <a:rPr lang="en-US" sz="2600" i="1" dirty="0">
                <a:solidFill>
                  <a:srgbClr val="FF0000"/>
                </a:solidFill>
              </a:rPr>
              <a:t>y</a:t>
            </a:r>
            <a:r>
              <a:rPr lang="en-US" sz="2600" dirty="0">
                <a:solidFill>
                  <a:srgbClr val="FF0000"/>
                </a:solidFill>
              </a:rPr>
              <a:t>) = </a:t>
            </a:r>
            <a:r>
              <a:rPr lang="en-US" sz="2600" i="1" dirty="0">
                <a:solidFill>
                  <a:srgbClr val="FF0000"/>
                </a:solidFill>
              </a:rPr>
              <a:t>A</a:t>
            </a:r>
            <a:r>
              <a:rPr lang="en-US" sz="2600" dirty="0">
                <a:solidFill>
                  <a:srgbClr val="FF0000"/>
                </a:solidFill>
              </a:rPr>
              <a:t>(</a:t>
            </a:r>
            <a:r>
              <a:rPr lang="en-US" sz="2600" i="1" dirty="0">
                <a:solidFill>
                  <a:srgbClr val="FF0000"/>
                </a:solidFill>
              </a:rPr>
              <a:t>x</a:t>
            </a:r>
            <a:r>
              <a:rPr lang="en-US" sz="2600" dirty="0">
                <a:solidFill>
                  <a:srgbClr val="FF0000"/>
                </a:solidFill>
              </a:rPr>
              <a:t>, </a:t>
            </a:r>
            <a:r>
              <a:rPr lang="en-US" sz="2600" i="1" dirty="0">
                <a:solidFill>
                  <a:srgbClr val="FF0000"/>
                </a:solidFill>
              </a:rPr>
              <a:t>y</a:t>
            </a:r>
            <a:r>
              <a:rPr lang="en-US" sz="2600" dirty="0">
                <a:solidFill>
                  <a:srgbClr val="FF0000"/>
                </a:solidFill>
              </a:rPr>
              <a:t>) </a:t>
            </a:r>
            <a:r>
              <a:rPr lang="en-US" sz="2600" dirty="0">
                <a:solidFill>
                  <a:srgbClr val="FF0000"/>
                </a:solidFill>
                <a:sym typeface="Symbol" panose="05050102010706020507" pitchFamily="18" charset="2"/>
              </a:rPr>
              <a:t>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i="1" dirty="0">
                <a:solidFill>
                  <a:srgbClr val="FF0000"/>
                </a:solidFill>
              </a:rPr>
              <a:t>B</a:t>
            </a:r>
            <a:r>
              <a:rPr lang="en-US" sz="2600" dirty="0">
                <a:solidFill>
                  <a:srgbClr val="FF0000"/>
                </a:solidFill>
              </a:rPr>
              <a:t>(</a:t>
            </a:r>
            <a:r>
              <a:rPr lang="en-US" sz="2600" i="1" dirty="0">
                <a:solidFill>
                  <a:srgbClr val="FF0000"/>
                </a:solidFill>
              </a:rPr>
              <a:t>x</a:t>
            </a:r>
            <a:r>
              <a:rPr lang="en-US" sz="2600" dirty="0">
                <a:solidFill>
                  <a:srgbClr val="FF0000"/>
                </a:solidFill>
              </a:rPr>
              <a:t>, </a:t>
            </a:r>
            <a:r>
              <a:rPr lang="en-US" sz="2600" i="1" dirty="0">
                <a:solidFill>
                  <a:srgbClr val="FF0000"/>
                </a:solidFill>
              </a:rPr>
              <a:t>y</a:t>
            </a:r>
            <a:r>
              <a:rPr lang="en-US" sz="2600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600" dirty="0"/>
              <a:t> </a:t>
            </a:r>
          </a:p>
          <a:p>
            <a:r>
              <a:rPr lang="en-US" sz="2600" dirty="0" err="1"/>
              <a:t>Perkalian</a:t>
            </a:r>
            <a:r>
              <a:rPr lang="en-US" sz="2600" dirty="0"/>
              <a:t> </a:t>
            </a:r>
            <a:r>
              <a:rPr lang="en-US" sz="2600" dirty="0" err="1"/>
              <a:t>citra</a:t>
            </a:r>
            <a:r>
              <a:rPr lang="en-US" sz="2600" dirty="0"/>
              <a:t>:  </a:t>
            </a:r>
            <a:r>
              <a:rPr lang="en-US" sz="2600" i="1" dirty="0">
                <a:solidFill>
                  <a:srgbClr val="FF0000"/>
                </a:solidFill>
              </a:rPr>
              <a:t>C</a:t>
            </a:r>
            <a:r>
              <a:rPr lang="en-US" sz="2600" dirty="0">
                <a:solidFill>
                  <a:srgbClr val="FF0000"/>
                </a:solidFill>
              </a:rPr>
              <a:t>(</a:t>
            </a:r>
            <a:r>
              <a:rPr lang="en-US" sz="2600" i="1" dirty="0">
                <a:solidFill>
                  <a:srgbClr val="FF0000"/>
                </a:solidFill>
              </a:rPr>
              <a:t>x</a:t>
            </a:r>
            <a:r>
              <a:rPr lang="en-US" sz="2600" dirty="0">
                <a:solidFill>
                  <a:srgbClr val="FF0000"/>
                </a:solidFill>
              </a:rPr>
              <a:t>, </a:t>
            </a:r>
            <a:r>
              <a:rPr lang="en-US" sz="2600" i="1" dirty="0">
                <a:solidFill>
                  <a:srgbClr val="FF0000"/>
                </a:solidFill>
              </a:rPr>
              <a:t>y</a:t>
            </a:r>
            <a:r>
              <a:rPr lang="en-US" sz="2600" dirty="0">
                <a:solidFill>
                  <a:srgbClr val="FF0000"/>
                </a:solidFill>
              </a:rPr>
              <a:t>) = </a:t>
            </a:r>
            <a:r>
              <a:rPr lang="en-US" sz="2600" i="1" dirty="0">
                <a:solidFill>
                  <a:srgbClr val="FF0000"/>
                </a:solidFill>
              </a:rPr>
              <a:t>A</a:t>
            </a:r>
            <a:r>
              <a:rPr lang="en-US" sz="2600" dirty="0">
                <a:solidFill>
                  <a:srgbClr val="FF0000"/>
                </a:solidFill>
              </a:rPr>
              <a:t>(</a:t>
            </a:r>
            <a:r>
              <a:rPr lang="en-US" sz="2600" i="1" dirty="0">
                <a:solidFill>
                  <a:srgbClr val="FF0000"/>
                </a:solidFill>
              </a:rPr>
              <a:t>x</a:t>
            </a:r>
            <a:r>
              <a:rPr lang="en-US" sz="2600" dirty="0">
                <a:solidFill>
                  <a:srgbClr val="FF0000"/>
                </a:solidFill>
              </a:rPr>
              <a:t>, </a:t>
            </a:r>
            <a:r>
              <a:rPr lang="en-US" sz="2600" i="1" dirty="0">
                <a:solidFill>
                  <a:srgbClr val="FF0000"/>
                </a:solidFill>
              </a:rPr>
              <a:t>y</a:t>
            </a:r>
            <a:r>
              <a:rPr lang="en-US" sz="2600" dirty="0">
                <a:solidFill>
                  <a:srgbClr val="FF0000"/>
                </a:solidFill>
              </a:rPr>
              <a:t>) .* </a:t>
            </a:r>
            <a:r>
              <a:rPr lang="en-US" sz="2600" i="1" dirty="0">
                <a:solidFill>
                  <a:srgbClr val="FF0000"/>
                </a:solidFill>
              </a:rPr>
              <a:t>B</a:t>
            </a:r>
            <a:r>
              <a:rPr lang="en-US" sz="2600" dirty="0">
                <a:solidFill>
                  <a:srgbClr val="FF0000"/>
                </a:solidFill>
              </a:rPr>
              <a:t>(</a:t>
            </a:r>
            <a:r>
              <a:rPr lang="en-US" sz="2600" i="1" dirty="0">
                <a:solidFill>
                  <a:srgbClr val="FF0000"/>
                </a:solidFill>
              </a:rPr>
              <a:t>x</a:t>
            </a:r>
            <a:r>
              <a:rPr lang="en-US" sz="2600" dirty="0">
                <a:solidFill>
                  <a:srgbClr val="FF0000"/>
                </a:solidFill>
              </a:rPr>
              <a:t>, </a:t>
            </a:r>
            <a:r>
              <a:rPr lang="en-US" sz="2600" i="1" dirty="0">
                <a:solidFill>
                  <a:srgbClr val="FF0000"/>
                </a:solidFill>
              </a:rPr>
              <a:t>y</a:t>
            </a:r>
            <a:r>
              <a:rPr lang="en-US" sz="2600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600" dirty="0"/>
              <a:t> </a:t>
            </a:r>
          </a:p>
          <a:p>
            <a:r>
              <a:rPr lang="en-US" sz="2600" dirty="0" err="1"/>
              <a:t>Penjumlahan</a:t>
            </a:r>
            <a:r>
              <a:rPr lang="en-US" sz="2600" dirty="0"/>
              <a:t>/</a:t>
            </a:r>
            <a:r>
              <a:rPr lang="en-US" sz="2600" dirty="0" err="1"/>
              <a:t>pengurangan</a:t>
            </a:r>
            <a:r>
              <a:rPr lang="en-US" sz="2600" dirty="0"/>
              <a:t> </a:t>
            </a:r>
            <a:r>
              <a:rPr lang="en-US" sz="2600" dirty="0" err="1"/>
              <a:t>citra</a:t>
            </a:r>
            <a:r>
              <a:rPr lang="en-US" sz="2600" dirty="0"/>
              <a:t> </a:t>
            </a:r>
            <a:r>
              <a:rPr lang="en-US" sz="2600" i="1" dirty="0"/>
              <a:t>A</a:t>
            </a:r>
            <a:r>
              <a:rPr lang="en-US" sz="2600" dirty="0"/>
              <a:t> </a:t>
            </a:r>
            <a:r>
              <a:rPr lang="en-US" sz="2600" dirty="0" err="1"/>
              <a:t>dengan</a:t>
            </a:r>
            <a:r>
              <a:rPr lang="en-US" sz="2600" dirty="0"/>
              <a:t> </a:t>
            </a:r>
            <a:r>
              <a:rPr lang="en-US" sz="2600" dirty="0" err="1"/>
              <a:t>skalar</a:t>
            </a:r>
            <a:r>
              <a:rPr lang="en-US" sz="2600" dirty="0"/>
              <a:t> </a:t>
            </a:r>
            <a:r>
              <a:rPr lang="en-US" sz="2600" i="1" dirty="0"/>
              <a:t>c</a:t>
            </a:r>
            <a:r>
              <a:rPr lang="en-US" sz="2600" dirty="0"/>
              <a:t>:  </a:t>
            </a:r>
            <a:r>
              <a:rPr lang="en-US" sz="2600" i="1" dirty="0">
                <a:solidFill>
                  <a:srgbClr val="FF0000"/>
                </a:solidFill>
              </a:rPr>
              <a:t>B</a:t>
            </a:r>
            <a:r>
              <a:rPr lang="en-US" sz="2600" dirty="0">
                <a:solidFill>
                  <a:srgbClr val="FF0000"/>
                </a:solidFill>
              </a:rPr>
              <a:t>(</a:t>
            </a:r>
            <a:r>
              <a:rPr lang="en-US" sz="2600" i="1" dirty="0">
                <a:solidFill>
                  <a:srgbClr val="FF0000"/>
                </a:solidFill>
              </a:rPr>
              <a:t>x</a:t>
            </a:r>
            <a:r>
              <a:rPr lang="en-US" sz="2600" dirty="0">
                <a:solidFill>
                  <a:srgbClr val="FF0000"/>
                </a:solidFill>
              </a:rPr>
              <a:t>, </a:t>
            </a:r>
            <a:r>
              <a:rPr lang="en-US" sz="2600" i="1" dirty="0">
                <a:solidFill>
                  <a:srgbClr val="FF0000"/>
                </a:solidFill>
              </a:rPr>
              <a:t>y</a:t>
            </a:r>
            <a:r>
              <a:rPr lang="en-US" sz="2600" dirty="0">
                <a:solidFill>
                  <a:srgbClr val="FF0000"/>
                </a:solidFill>
              </a:rPr>
              <a:t>) = </a:t>
            </a:r>
            <a:r>
              <a:rPr lang="en-US" sz="2600" i="1" dirty="0">
                <a:solidFill>
                  <a:srgbClr val="FF0000"/>
                </a:solidFill>
              </a:rPr>
              <a:t>A</a:t>
            </a:r>
            <a:r>
              <a:rPr lang="en-US" sz="2600" dirty="0">
                <a:solidFill>
                  <a:srgbClr val="FF0000"/>
                </a:solidFill>
              </a:rPr>
              <a:t>(</a:t>
            </a:r>
            <a:r>
              <a:rPr lang="en-US" sz="2600" i="1" dirty="0">
                <a:solidFill>
                  <a:srgbClr val="FF0000"/>
                </a:solidFill>
              </a:rPr>
              <a:t>x</a:t>
            </a:r>
            <a:r>
              <a:rPr lang="en-US" sz="2600" dirty="0">
                <a:solidFill>
                  <a:srgbClr val="FF0000"/>
                </a:solidFill>
              </a:rPr>
              <a:t>, </a:t>
            </a:r>
            <a:r>
              <a:rPr lang="en-US" sz="2600" i="1" dirty="0">
                <a:solidFill>
                  <a:srgbClr val="FF0000"/>
                </a:solidFill>
              </a:rPr>
              <a:t>y</a:t>
            </a:r>
            <a:r>
              <a:rPr lang="en-US" sz="2600" dirty="0">
                <a:solidFill>
                  <a:srgbClr val="FF0000"/>
                </a:solidFill>
              </a:rPr>
              <a:t>) </a:t>
            </a:r>
            <a:r>
              <a:rPr lang="en-US" sz="2600" dirty="0">
                <a:solidFill>
                  <a:srgbClr val="FF0000"/>
                </a:solidFill>
                <a:sym typeface="Symbol" panose="05050102010706020507" pitchFamily="18" charset="2"/>
              </a:rPr>
              <a:t>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i="1" dirty="0">
                <a:solidFill>
                  <a:srgbClr val="FF0000"/>
                </a:solidFill>
              </a:rPr>
              <a:t>c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 </a:t>
            </a:r>
          </a:p>
          <a:p>
            <a:r>
              <a:rPr lang="en-US" sz="2600" dirty="0" err="1"/>
              <a:t>Perkalian</a:t>
            </a:r>
            <a:r>
              <a:rPr lang="en-US" sz="2600" dirty="0"/>
              <a:t>/</a:t>
            </a:r>
            <a:r>
              <a:rPr lang="en-US" sz="2600" dirty="0" err="1"/>
              <a:t>pembagian</a:t>
            </a:r>
            <a:r>
              <a:rPr lang="en-US" sz="2600" dirty="0"/>
              <a:t> </a:t>
            </a:r>
            <a:r>
              <a:rPr lang="en-US" sz="2600" dirty="0" err="1"/>
              <a:t>citra</a:t>
            </a:r>
            <a:r>
              <a:rPr lang="en-US" sz="2600" dirty="0"/>
              <a:t> </a:t>
            </a:r>
            <a:r>
              <a:rPr lang="en-US" sz="2600" i="1" dirty="0"/>
              <a:t>A</a:t>
            </a:r>
            <a:r>
              <a:rPr lang="en-US" sz="2600" dirty="0"/>
              <a:t> </a:t>
            </a:r>
            <a:r>
              <a:rPr lang="en-US" sz="2600" dirty="0" err="1"/>
              <a:t>dengan</a:t>
            </a:r>
            <a:r>
              <a:rPr lang="en-US" sz="2600" dirty="0"/>
              <a:t> </a:t>
            </a:r>
            <a:r>
              <a:rPr lang="en-US" sz="2600" dirty="0" err="1"/>
              <a:t>sebuah</a:t>
            </a:r>
            <a:r>
              <a:rPr lang="en-US" sz="2600" dirty="0"/>
              <a:t> </a:t>
            </a:r>
            <a:r>
              <a:rPr lang="en-US" sz="2600" dirty="0" err="1"/>
              <a:t>skalar</a:t>
            </a:r>
            <a:r>
              <a:rPr lang="en-US" sz="2600" dirty="0"/>
              <a:t> </a:t>
            </a:r>
            <a:r>
              <a:rPr lang="en-US" sz="2600" i="1" dirty="0"/>
              <a:t>c</a:t>
            </a:r>
            <a:r>
              <a:rPr lang="en-US" sz="2600" dirty="0"/>
              <a:t>:  </a:t>
            </a:r>
            <a:r>
              <a:rPr lang="en-US" sz="2600" i="1" dirty="0">
                <a:solidFill>
                  <a:srgbClr val="FF0000"/>
                </a:solidFill>
              </a:rPr>
              <a:t>B</a:t>
            </a:r>
            <a:r>
              <a:rPr lang="en-US" sz="2600" dirty="0">
                <a:solidFill>
                  <a:srgbClr val="FF0000"/>
                </a:solidFill>
              </a:rPr>
              <a:t>(</a:t>
            </a:r>
            <a:r>
              <a:rPr lang="en-US" sz="2600" i="1" dirty="0">
                <a:solidFill>
                  <a:srgbClr val="FF0000"/>
                </a:solidFill>
              </a:rPr>
              <a:t>x</a:t>
            </a:r>
            <a:r>
              <a:rPr lang="en-US" sz="2600" dirty="0">
                <a:solidFill>
                  <a:srgbClr val="FF0000"/>
                </a:solidFill>
              </a:rPr>
              <a:t>, </a:t>
            </a:r>
            <a:r>
              <a:rPr lang="en-US" sz="2600" i="1" dirty="0">
                <a:solidFill>
                  <a:srgbClr val="FF0000"/>
                </a:solidFill>
              </a:rPr>
              <a:t>y</a:t>
            </a:r>
            <a:r>
              <a:rPr lang="en-US" sz="2600" dirty="0">
                <a:solidFill>
                  <a:srgbClr val="FF0000"/>
                </a:solidFill>
              </a:rPr>
              <a:t>) = </a:t>
            </a:r>
            <a:r>
              <a:rPr lang="en-US" sz="2600" i="1" dirty="0">
                <a:solidFill>
                  <a:srgbClr val="FF0000"/>
                </a:solidFill>
              </a:rPr>
              <a:t>c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>
                <a:solidFill>
                  <a:srgbClr val="FF0000"/>
                </a:solidFill>
                <a:sym typeface="Symbol" panose="05050102010706020507" pitchFamily="18" charset="2"/>
              </a:rPr>
              <a:t>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i="1" dirty="0">
                <a:solidFill>
                  <a:srgbClr val="FF0000"/>
                </a:solidFill>
              </a:rPr>
              <a:t>A</a:t>
            </a:r>
            <a:r>
              <a:rPr lang="en-US" sz="2600" dirty="0">
                <a:solidFill>
                  <a:srgbClr val="FF0000"/>
                </a:solidFill>
              </a:rPr>
              <a:t>(</a:t>
            </a:r>
            <a:r>
              <a:rPr lang="en-US" sz="2600" i="1" dirty="0">
                <a:solidFill>
                  <a:srgbClr val="FF0000"/>
                </a:solidFill>
              </a:rPr>
              <a:t>x</a:t>
            </a:r>
            <a:r>
              <a:rPr lang="en-US" sz="2600" dirty="0">
                <a:solidFill>
                  <a:srgbClr val="FF0000"/>
                </a:solidFill>
              </a:rPr>
              <a:t>, </a:t>
            </a:r>
            <a:r>
              <a:rPr lang="en-US" sz="2600" i="1" dirty="0">
                <a:solidFill>
                  <a:srgbClr val="FF0000"/>
                </a:solidFill>
              </a:rPr>
              <a:t>y</a:t>
            </a:r>
            <a:r>
              <a:rPr lang="en-US" sz="2600" dirty="0">
                <a:solidFill>
                  <a:srgbClr val="FF0000"/>
                </a:solidFill>
              </a:rPr>
              <a:t>)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748794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E0C4F-7D6C-4BF3-8D7A-4D86E1D41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3213"/>
            <a:ext cx="10515600" cy="5371893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Penjumlahan</a:t>
            </a:r>
            <a:r>
              <a:rPr lang="en-US" b="1" dirty="0"/>
              <a:t> </a:t>
            </a:r>
            <a:r>
              <a:rPr lang="en-US" b="1" dirty="0" err="1"/>
              <a:t>citra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291B6E-D1EF-4BA4-8000-F47DE1D82754}"/>
              </a:ext>
            </a:extLst>
          </p:cNvPr>
          <p:cNvSpPr/>
          <p:nvPr/>
        </p:nvSpPr>
        <p:spPr>
          <a:xfrm>
            <a:off x="1417982" y="2359611"/>
            <a:ext cx="950512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addition(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B,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C, int M, int N)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Menjumlahkan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dan B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C.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Citra A, B, dan C masing-masing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berukuran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 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*/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int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j, temp;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for 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&lt;=M-1;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for (j=0; j&lt;=N-1;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temp=A[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 + B[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][j];  	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	if (temp &gt; 255) C[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][j]=255; else C[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][j]=temp;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86C829-5423-4A6E-BB55-D0415DB1B093}"/>
              </a:ext>
            </a:extLst>
          </p:cNvPr>
          <p:cNvSpPr/>
          <p:nvPr/>
        </p:nvSpPr>
        <p:spPr>
          <a:xfrm>
            <a:off x="2750115" y="1534803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=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+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	</a:t>
            </a: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656C09-E162-4F37-8C5C-E7B7D8EE9542}"/>
              </a:ext>
            </a:extLst>
          </p:cNvPr>
          <p:cNvSpPr/>
          <p:nvPr/>
        </p:nvSpPr>
        <p:spPr>
          <a:xfrm>
            <a:off x="1123121" y="2216426"/>
            <a:ext cx="9968949" cy="39605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68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D2B5F005-A969-4068-81B1-A563A8408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174" y="1695933"/>
            <a:ext cx="609600" cy="609600"/>
          </a:xfrm>
          <a:prstGeom prst="rect">
            <a:avLst/>
          </a:prstGeom>
          <a:solidFill>
            <a:srgbClr val="E5E01B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6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41849FFB-1156-457A-B915-F1D4D7F1F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774" y="1695933"/>
            <a:ext cx="609600" cy="609600"/>
          </a:xfrm>
          <a:prstGeom prst="rect">
            <a:avLst/>
          </a:prstGeom>
          <a:solidFill>
            <a:srgbClr val="E5E01B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8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C4012204-6BF6-4648-B2FF-D3DB98B62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374" y="1695933"/>
            <a:ext cx="609600" cy="609600"/>
          </a:xfrm>
          <a:prstGeom prst="rect">
            <a:avLst/>
          </a:prstGeom>
          <a:solidFill>
            <a:srgbClr val="E5E01B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2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FDE20E5-0493-403E-82D4-B8C95C109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4974" y="1695933"/>
            <a:ext cx="609600" cy="609600"/>
          </a:xfrm>
          <a:prstGeom prst="rect">
            <a:avLst/>
          </a:prstGeom>
          <a:solidFill>
            <a:srgbClr val="E5E01B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0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583DB2F-8D3E-4F35-912F-500CFA339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174" y="2305533"/>
            <a:ext cx="609600" cy="609600"/>
          </a:xfrm>
          <a:prstGeom prst="rect">
            <a:avLst/>
          </a:prstGeom>
          <a:solidFill>
            <a:srgbClr val="E5E01B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12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1384327-BAC8-4D53-959B-2AC29ACAC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774" y="2305533"/>
            <a:ext cx="609600" cy="609600"/>
          </a:xfrm>
          <a:prstGeom prst="rect">
            <a:avLst/>
          </a:prstGeom>
          <a:solidFill>
            <a:srgbClr val="E5E01B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200</a:t>
            </a:r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7A614CB0-A6A4-46BB-9A14-D117B3191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374" y="2305533"/>
            <a:ext cx="609600" cy="609600"/>
          </a:xfrm>
          <a:prstGeom prst="rect">
            <a:avLst/>
          </a:prstGeom>
          <a:solidFill>
            <a:srgbClr val="E5E01B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20</a:t>
            </a:r>
          </a:p>
        </p:txBody>
      </p:sp>
      <p:sp>
        <p:nvSpPr>
          <p:cNvPr id="9" name="Rectangle 15">
            <a:extLst>
              <a:ext uri="{FF2B5EF4-FFF2-40B4-BE49-F238E27FC236}">
                <a16:creationId xmlns:a16="http://schemas.microsoft.com/office/drawing/2014/main" id="{57D30C8C-8942-48B5-93DA-CEC281230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4974" y="2305533"/>
            <a:ext cx="609600" cy="609600"/>
          </a:xfrm>
          <a:prstGeom prst="rect">
            <a:avLst/>
          </a:prstGeom>
          <a:solidFill>
            <a:srgbClr val="E5E01B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10</a:t>
            </a:r>
          </a:p>
        </p:txBody>
      </p:sp>
      <p:sp>
        <p:nvSpPr>
          <p:cNvPr id="10" name="Rectangle 33">
            <a:extLst>
              <a:ext uri="{FF2B5EF4-FFF2-40B4-BE49-F238E27FC236}">
                <a16:creationId xmlns:a16="http://schemas.microsoft.com/office/drawing/2014/main" id="{85C3B261-8ED5-4E10-8165-E844BF56B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174" y="4286733"/>
            <a:ext cx="609600" cy="609600"/>
          </a:xfrm>
          <a:prstGeom prst="rect">
            <a:avLst/>
          </a:prstGeom>
          <a:solidFill>
            <a:srgbClr val="8AC739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5</a:t>
            </a:r>
          </a:p>
        </p:txBody>
      </p:sp>
      <p:sp>
        <p:nvSpPr>
          <p:cNvPr id="11" name="Rectangle 34">
            <a:extLst>
              <a:ext uri="{FF2B5EF4-FFF2-40B4-BE49-F238E27FC236}">
                <a16:creationId xmlns:a16="http://schemas.microsoft.com/office/drawing/2014/main" id="{2B5113E4-E445-4019-84FC-42B03BE02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774" y="4286733"/>
            <a:ext cx="609600" cy="609600"/>
          </a:xfrm>
          <a:prstGeom prst="rect">
            <a:avLst/>
          </a:prstGeom>
          <a:solidFill>
            <a:srgbClr val="8AC739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5</a:t>
            </a:r>
          </a:p>
        </p:txBody>
      </p:sp>
      <p:sp>
        <p:nvSpPr>
          <p:cNvPr id="12" name="Rectangle 35">
            <a:extLst>
              <a:ext uri="{FF2B5EF4-FFF2-40B4-BE49-F238E27FC236}">
                <a16:creationId xmlns:a16="http://schemas.microsoft.com/office/drawing/2014/main" id="{D9658906-8397-4100-AAB2-D9787BE7B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374" y="4286733"/>
            <a:ext cx="609600" cy="609600"/>
          </a:xfrm>
          <a:prstGeom prst="rect">
            <a:avLst/>
          </a:prstGeom>
          <a:solidFill>
            <a:srgbClr val="8AC739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1</a:t>
            </a:r>
          </a:p>
        </p:txBody>
      </p:sp>
      <p:sp>
        <p:nvSpPr>
          <p:cNvPr id="13" name="Rectangle 36">
            <a:extLst>
              <a:ext uri="{FF2B5EF4-FFF2-40B4-BE49-F238E27FC236}">
                <a16:creationId xmlns:a16="http://schemas.microsoft.com/office/drawing/2014/main" id="{472D95DF-8B3A-48B9-86EB-FC781335E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4974" y="4286733"/>
            <a:ext cx="609600" cy="609600"/>
          </a:xfrm>
          <a:prstGeom prst="rect">
            <a:avLst/>
          </a:prstGeom>
          <a:solidFill>
            <a:srgbClr val="8AC739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0</a:t>
            </a:r>
          </a:p>
        </p:txBody>
      </p:sp>
      <p:sp>
        <p:nvSpPr>
          <p:cNvPr id="14" name="Rectangle 37">
            <a:extLst>
              <a:ext uri="{FF2B5EF4-FFF2-40B4-BE49-F238E27FC236}">
                <a16:creationId xmlns:a16="http://schemas.microsoft.com/office/drawing/2014/main" id="{928E71D6-5A25-495A-85D8-E7D8E38CB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174" y="4896333"/>
            <a:ext cx="609600" cy="609600"/>
          </a:xfrm>
          <a:prstGeom prst="rect">
            <a:avLst/>
          </a:prstGeom>
          <a:solidFill>
            <a:srgbClr val="8AC739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2</a:t>
            </a:r>
          </a:p>
        </p:txBody>
      </p:sp>
      <p:sp>
        <p:nvSpPr>
          <p:cNvPr id="15" name="Rectangle 38">
            <a:extLst>
              <a:ext uri="{FF2B5EF4-FFF2-40B4-BE49-F238E27FC236}">
                <a16:creationId xmlns:a16="http://schemas.microsoft.com/office/drawing/2014/main" id="{FA59D830-EDE5-4F1B-97B8-A8C0A8A62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774" y="4896333"/>
            <a:ext cx="609600" cy="609600"/>
          </a:xfrm>
          <a:prstGeom prst="rect">
            <a:avLst/>
          </a:prstGeom>
          <a:solidFill>
            <a:srgbClr val="8AC739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20</a:t>
            </a:r>
          </a:p>
        </p:txBody>
      </p:sp>
      <p:sp>
        <p:nvSpPr>
          <p:cNvPr id="16" name="Rectangle 39">
            <a:extLst>
              <a:ext uri="{FF2B5EF4-FFF2-40B4-BE49-F238E27FC236}">
                <a16:creationId xmlns:a16="http://schemas.microsoft.com/office/drawing/2014/main" id="{783D2B04-68A2-4DAC-98E3-19E847B2F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374" y="4896333"/>
            <a:ext cx="609600" cy="609600"/>
          </a:xfrm>
          <a:prstGeom prst="rect">
            <a:avLst/>
          </a:prstGeom>
          <a:solidFill>
            <a:srgbClr val="8AC739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3</a:t>
            </a:r>
          </a:p>
        </p:txBody>
      </p:sp>
      <p:sp>
        <p:nvSpPr>
          <p:cNvPr id="17" name="Rectangle 40">
            <a:extLst>
              <a:ext uri="{FF2B5EF4-FFF2-40B4-BE49-F238E27FC236}">
                <a16:creationId xmlns:a16="http://schemas.microsoft.com/office/drawing/2014/main" id="{9DAE9B39-27A7-442F-9636-384EFA04C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4974" y="4896333"/>
            <a:ext cx="609600" cy="609600"/>
          </a:xfrm>
          <a:prstGeom prst="rect">
            <a:avLst/>
          </a:prstGeom>
          <a:solidFill>
            <a:srgbClr val="8AC739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4</a:t>
            </a:r>
          </a:p>
        </p:txBody>
      </p:sp>
      <p:sp>
        <p:nvSpPr>
          <p:cNvPr id="18" name="Rectangle 41">
            <a:extLst>
              <a:ext uri="{FF2B5EF4-FFF2-40B4-BE49-F238E27FC236}">
                <a16:creationId xmlns:a16="http://schemas.microsoft.com/office/drawing/2014/main" id="{02CA8594-AB6A-4B75-8086-CC7E07FC2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0174" y="2991333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11</a:t>
            </a:r>
          </a:p>
        </p:txBody>
      </p:sp>
      <p:sp>
        <p:nvSpPr>
          <p:cNvPr id="19" name="Rectangle 42">
            <a:extLst>
              <a:ext uri="{FF2B5EF4-FFF2-40B4-BE49-F238E27FC236}">
                <a16:creationId xmlns:a16="http://schemas.microsoft.com/office/drawing/2014/main" id="{5F434797-88D4-4B0C-81C4-EA91892E1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9774" y="2991333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13</a:t>
            </a:r>
          </a:p>
        </p:txBody>
      </p:sp>
      <p:sp>
        <p:nvSpPr>
          <p:cNvPr id="20" name="Rectangle 43">
            <a:extLst>
              <a:ext uri="{FF2B5EF4-FFF2-40B4-BE49-F238E27FC236}">
                <a16:creationId xmlns:a16="http://schemas.microsoft.com/office/drawing/2014/main" id="{797564B6-300B-4915-95C2-47B9B633A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374" y="2991333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3</a:t>
            </a:r>
          </a:p>
        </p:txBody>
      </p:sp>
      <p:sp>
        <p:nvSpPr>
          <p:cNvPr id="21" name="Rectangle 44">
            <a:extLst>
              <a:ext uri="{FF2B5EF4-FFF2-40B4-BE49-F238E27FC236}">
                <a16:creationId xmlns:a16="http://schemas.microsoft.com/office/drawing/2014/main" id="{87FF8F9F-AA60-4FC4-B994-881CFA179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8974" y="2991333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0</a:t>
            </a:r>
          </a:p>
        </p:txBody>
      </p:sp>
      <p:sp>
        <p:nvSpPr>
          <p:cNvPr id="22" name="Rectangle 45">
            <a:extLst>
              <a:ext uri="{FF2B5EF4-FFF2-40B4-BE49-F238E27FC236}">
                <a16:creationId xmlns:a16="http://schemas.microsoft.com/office/drawing/2014/main" id="{09936EE6-912A-4299-BBE0-EFC51AA59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0174" y="3600933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14</a:t>
            </a:r>
          </a:p>
        </p:txBody>
      </p:sp>
      <p:sp>
        <p:nvSpPr>
          <p:cNvPr id="23" name="Rectangle 46">
            <a:extLst>
              <a:ext uri="{FF2B5EF4-FFF2-40B4-BE49-F238E27FC236}">
                <a16:creationId xmlns:a16="http://schemas.microsoft.com/office/drawing/2014/main" id="{F2099453-9676-4D08-B069-649467DD2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9774" y="3600933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220</a:t>
            </a:r>
          </a:p>
        </p:txBody>
      </p:sp>
      <p:sp>
        <p:nvSpPr>
          <p:cNvPr id="24" name="Rectangle 47">
            <a:extLst>
              <a:ext uri="{FF2B5EF4-FFF2-40B4-BE49-F238E27FC236}">
                <a16:creationId xmlns:a16="http://schemas.microsoft.com/office/drawing/2014/main" id="{BFF0CCBF-96E0-466C-B494-40BA8FDB6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374" y="3600933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23</a:t>
            </a:r>
          </a:p>
        </p:txBody>
      </p:sp>
      <p:sp>
        <p:nvSpPr>
          <p:cNvPr id="25" name="Rectangle 48">
            <a:extLst>
              <a:ext uri="{FF2B5EF4-FFF2-40B4-BE49-F238E27FC236}">
                <a16:creationId xmlns:a16="http://schemas.microsoft.com/office/drawing/2014/main" id="{90D3E7A4-8B7C-4FD8-92B6-EAA101D4A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8974" y="3600933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14</a:t>
            </a:r>
          </a:p>
        </p:txBody>
      </p:sp>
      <p:cxnSp>
        <p:nvCxnSpPr>
          <p:cNvPr id="26" name="AutoShape 49">
            <a:extLst>
              <a:ext uri="{FF2B5EF4-FFF2-40B4-BE49-F238E27FC236}">
                <a16:creationId xmlns:a16="http://schemas.microsoft.com/office/drawing/2014/main" id="{C7D4140E-4A90-4250-B663-617E4198E57B}"/>
              </a:ext>
            </a:extLst>
          </p:cNvPr>
          <p:cNvCxnSpPr>
            <a:cxnSpLocks noChangeShapeType="1"/>
            <a:stCxn id="7" idx="2"/>
            <a:endCxn id="11" idx="0"/>
          </p:cNvCxnSpPr>
          <p:nvPr/>
        </p:nvCxnSpPr>
        <p:spPr bwMode="auto">
          <a:xfrm>
            <a:off x="2820574" y="2929420"/>
            <a:ext cx="0" cy="1343025"/>
          </a:xfrm>
          <a:prstGeom prst="straightConnector1">
            <a:avLst/>
          </a:prstGeom>
          <a:noFill/>
          <a:ln w="762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Line 50">
            <a:extLst>
              <a:ext uri="{FF2B5EF4-FFF2-40B4-BE49-F238E27FC236}">
                <a16:creationId xmlns:a16="http://schemas.microsoft.com/office/drawing/2014/main" id="{588771E6-A751-4944-BB52-33434E18DF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0574" y="3600933"/>
            <a:ext cx="4343400" cy="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Text Box 59">
            <a:extLst>
              <a:ext uri="{FF2B5EF4-FFF2-40B4-BE49-F238E27FC236}">
                <a16:creationId xmlns:a16="http://schemas.microsoft.com/office/drawing/2014/main" id="{948AFBBD-DE9E-4D97-A40B-036A2D8B3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6974" y="3067533"/>
            <a:ext cx="1954381" cy="46166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latin typeface="Arial" panose="020B0604020202020204" pitchFamily="34" charset="0"/>
              </a:rPr>
              <a:t>(Operator: +)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56C6DA-C59B-4131-8BE5-55B0E7A97CFC}"/>
              </a:ext>
            </a:extLst>
          </p:cNvPr>
          <p:cNvSpPr txBox="1"/>
          <p:nvPr/>
        </p:nvSpPr>
        <p:spPr>
          <a:xfrm>
            <a:off x="1564929" y="6200447"/>
            <a:ext cx="10081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Sumber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gambar</a:t>
            </a:r>
            <a:r>
              <a:rPr lang="en-US" dirty="0">
                <a:solidFill>
                  <a:srgbClr val="FF0000"/>
                </a:solidFill>
              </a:rPr>
              <a:t>: Dr. Rolf </a:t>
            </a:r>
            <a:r>
              <a:rPr lang="en-US" dirty="0" err="1">
                <a:solidFill>
                  <a:srgbClr val="FF0000"/>
                </a:solidFill>
              </a:rPr>
              <a:t>Lakaemper</a:t>
            </a:r>
            <a:r>
              <a:rPr lang="en-US" dirty="0">
                <a:solidFill>
                  <a:srgbClr val="FF0000"/>
                </a:solidFill>
              </a:rPr>
              <a:t>, CIS 601 Image ENHANCEMENT in the SPATIAL DOMAIN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968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B6870-53D7-4612-9A5E-BAFD8DDC3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4826"/>
            <a:ext cx="10515600" cy="5332137"/>
          </a:xfrm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penjumlahan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: </a:t>
            </a:r>
            <a:r>
              <a:rPr lang="en-US" dirty="0" err="1"/>
              <a:t>mengurangi</a:t>
            </a:r>
            <a:r>
              <a:rPr lang="en-US" dirty="0"/>
              <a:t> </a:t>
            </a:r>
            <a:r>
              <a:rPr lang="en-US" dirty="0" err="1"/>
              <a:t>pengaruh</a:t>
            </a:r>
            <a:r>
              <a:rPr lang="en-US" dirty="0"/>
              <a:t> </a:t>
            </a:r>
            <a:r>
              <a:rPr lang="en-US" dirty="0" err="1"/>
              <a:t>derau</a:t>
            </a:r>
            <a:r>
              <a:rPr lang="en-US" dirty="0"/>
              <a:t> (</a:t>
            </a:r>
            <a:r>
              <a:rPr lang="en-US" i="1" dirty="0"/>
              <a:t>noise</a:t>
            </a:r>
            <a:r>
              <a:rPr lang="en-US" dirty="0"/>
              <a:t>) di </a:t>
            </a:r>
            <a:r>
              <a:rPr lang="en-US" dirty="0" err="1"/>
              <a:t>dalam</a:t>
            </a:r>
            <a:r>
              <a:rPr lang="en-US" dirty="0"/>
              <a:t> data,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merata-ratakan</a:t>
            </a:r>
            <a:r>
              <a:rPr lang="en-US" dirty="0"/>
              <a:t> </a:t>
            </a:r>
            <a:r>
              <a:rPr lang="en-US" dirty="0" err="1"/>
              <a:t>derajat</a:t>
            </a:r>
            <a:r>
              <a:rPr lang="en-US" dirty="0"/>
              <a:t> </a:t>
            </a:r>
            <a:r>
              <a:rPr lang="en-US" dirty="0" err="1"/>
              <a:t>keabuan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 yang </a:t>
            </a:r>
            <a:r>
              <a:rPr lang="en-US" dirty="0" err="1"/>
              <a:t>diambil</a:t>
            </a:r>
            <a:r>
              <a:rPr lang="en-US" dirty="0"/>
              <a:t> </a:t>
            </a:r>
            <a:r>
              <a:rPr lang="en-US" dirty="0" err="1"/>
              <a:t>berkali</a:t>
            </a:r>
            <a:r>
              <a:rPr lang="en-US" dirty="0"/>
              <a:t>-kali.</a:t>
            </a:r>
          </a:p>
          <a:p>
            <a:endParaRPr lang="en-US" dirty="0"/>
          </a:p>
          <a:p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direkam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kali, </a:t>
            </a:r>
            <a:r>
              <a:rPr lang="en-US" i="1" dirty="0"/>
              <a:t>f</a:t>
            </a:r>
            <a:r>
              <a:rPr lang="en-US" baseline="-25000" dirty="0"/>
              <a:t>1</a:t>
            </a:r>
            <a:r>
              <a:rPr lang="en-US" dirty="0"/>
              <a:t> dan </a:t>
            </a:r>
            <a:r>
              <a:rPr lang="en-US" i="1" dirty="0"/>
              <a:t>f</a:t>
            </a:r>
            <a:r>
              <a:rPr lang="en-US" baseline="-25000" dirty="0"/>
              <a:t>2</a:t>
            </a:r>
            <a:r>
              <a:rPr lang="en-US" dirty="0"/>
              <a:t>,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dihitung</a:t>
            </a:r>
            <a:r>
              <a:rPr lang="en-US" dirty="0"/>
              <a:t> </a:t>
            </a:r>
            <a:r>
              <a:rPr lang="en-US" dirty="0" err="1"/>
              <a:t>intensitas</a:t>
            </a:r>
            <a:r>
              <a:rPr lang="en-US" dirty="0"/>
              <a:t> rata-rata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i="1" dirty="0"/>
              <a:t>pixel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7151C2-BC1D-4475-8085-7E66F5944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749" y="3857210"/>
            <a:ext cx="5015296" cy="84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06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E7FBEE-E83E-4D53-BF92-5398A01F0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779" y="1566700"/>
            <a:ext cx="7477412" cy="42690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6D474B-F90F-4309-988E-3903A247FE3A}"/>
              </a:ext>
            </a:extLst>
          </p:cNvPr>
          <p:cNvSpPr txBox="1"/>
          <p:nvPr/>
        </p:nvSpPr>
        <p:spPr>
          <a:xfrm>
            <a:off x="914400" y="560616"/>
            <a:ext cx="86467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Pada </a:t>
            </a:r>
            <a:r>
              <a:rPr lang="en-US" sz="2400" dirty="0" err="1"/>
              <a:t>aplikasi</a:t>
            </a:r>
            <a:r>
              <a:rPr lang="en-US" sz="2400" dirty="0"/>
              <a:t> </a:t>
            </a:r>
            <a:r>
              <a:rPr lang="en-US" sz="2400" dirty="0" err="1"/>
              <a:t>astronomi</a:t>
            </a:r>
            <a:r>
              <a:rPr lang="en-US" sz="2400" dirty="0"/>
              <a:t>, </a:t>
            </a:r>
            <a:r>
              <a:rPr lang="en-US" sz="2400" dirty="0" err="1"/>
              <a:t>kualitas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ditingkatkan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</a:p>
          <a:p>
            <a:r>
              <a:rPr lang="en-US" sz="2400" dirty="0"/>
              <a:t>      </a:t>
            </a:r>
            <a:r>
              <a:rPr lang="en-US" sz="2400" dirty="0" err="1"/>
              <a:t>merata-ratakan</a:t>
            </a:r>
            <a:r>
              <a:rPr lang="en-US" sz="2400" dirty="0"/>
              <a:t> </a:t>
            </a:r>
            <a:r>
              <a:rPr lang="en-US" sz="2400" dirty="0" err="1"/>
              <a:t>sejumlah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0E64E1-6038-4845-A80E-09CAFC5308ED}"/>
              </a:ext>
            </a:extLst>
          </p:cNvPr>
          <p:cNvSpPr txBox="1"/>
          <p:nvPr/>
        </p:nvSpPr>
        <p:spPr>
          <a:xfrm>
            <a:off x="2337984" y="5928052"/>
            <a:ext cx="7516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Sumber</a:t>
            </a:r>
            <a:r>
              <a:rPr lang="en-US" dirty="0"/>
              <a:t>: </a:t>
            </a:r>
            <a:r>
              <a:rPr lang="en-US" i="1" dirty="0"/>
              <a:t>Digital Image Processing</a:t>
            </a:r>
            <a:r>
              <a:rPr lang="en-US" dirty="0"/>
              <a:t>, Amity Scholl of Engineering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30590626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82B60-E20E-4843-9A82-87E1FF693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5920"/>
            <a:ext cx="10515600" cy="5455603"/>
          </a:xfrm>
        </p:spPr>
        <p:txBody>
          <a:bodyPr>
            <a:normAutofit/>
          </a:bodyPr>
          <a:lstStyle/>
          <a:p>
            <a:r>
              <a:rPr lang="en-US" sz="2400" dirty="0" err="1"/>
              <a:t>Penjumlahan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menambahkan</a:t>
            </a:r>
            <a:r>
              <a:rPr lang="en-US" sz="2400" dirty="0"/>
              <a:t> </a:t>
            </a:r>
            <a:r>
              <a:rPr lang="en-US" sz="2400" dirty="0" err="1"/>
              <a:t>komponen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lain.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F2DD35-36D0-4517-BB31-4873C57BC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751" y="1333051"/>
            <a:ext cx="3975059" cy="2428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F3A2CE-8F64-428F-A2DB-DFC7441FC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386" y="1327413"/>
            <a:ext cx="3933724" cy="2428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EDD55B-A609-45F8-A31E-A3C10D82C486}"/>
              </a:ext>
            </a:extLst>
          </p:cNvPr>
          <p:cNvSpPr txBox="1"/>
          <p:nvPr/>
        </p:nvSpPr>
        <p:spPr>
          <a:xfrm>
            <a:off x="5781673" y="2081667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+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8566B5-2521-419F-8C91-0ED258F89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815" y="3925381"/>
            <a:ext cx="3965907" cy="2428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C2B80F-4B50-4CCA-9514-AC56912D3B4D}"/>
              </a:ext>
            </a:extLst>
          </p:cNvPr>
          <p:cNvSpPr txBox="1"/>
          <p:nvPr/>
        </p:nvSpPr>
        <p:spPr>
          <a:xfrm>
            <a:off x="610138" y="4401084"/>
            <a:ext cx="32811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Matlab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A=</a:t>
            </a:r>
            <a:r>
              <a:rPr lang="en-US" dirty="0" err="1"/>
              <a:t>imread</a:t>
            </a:r>
            <a:r>
              <a:rPr lang="en-US" dirty="0"/>
              <a:t>('tommy1.bmp');</a:t>
            </a:r>
          </a:p>
          <a:p>
            <a:r>
              <a:rPr lang="en-US" dirty="0"/>
              <a:t>B=</a:t>
            </a:r>
            <a:r>
              <a:rPr lang="en-US" dirty="0" err="1"/>
              <a:t>imread</a:t>
            </a:r>
            <a:r>
              <a:rPr lang="en-US" dirty="0"/>
              <a:t>('jerry1.bmp');</a:t>
            </a:r>
          </a:p>
          <a:p>
            <a:endParaRPr lang="en-US" dirty="0"/>
          </a:p>
          <a:p>
            <a:r>
              <a:rPr lang="en-US" dirty="0"/>
              <a:t>%Image addition</a:t>
            </a:r>
          </a:p>
          <a:p>
            <a:r>
              <a:rPr lang="en-US" dirty="0"/>
              <a:t>%Both A and B are of same size</a:t>
            </a:r>
          </a:p>
          <a:p>
            <a:r>
              <a:rPr lang="en-US" dirty="0"/>
              <a:t>object=A+B;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1CC97B-9377-4431-B194-7CF2FCEF95E1}"/>
              </a:ext>
            </a:extLst>
          </p:cNvPr>
          <p:cNvSpPr txBox="1"/>
          <p:nvPr/>
        </p:nvSpPr>
        <p:spPr>
          <a:xfrm>
            <a:off x="4334815" y="6413684"/>
            <a:ext cx="9675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Sumber</a:t>
            </a:r>
            <a:r>
              <a:rPr lang="en-US" dirty="0"/>
              <a:t>: </a:t>
            </a:r>
            <a:r>
              <a:rPr lang="en-US" dirty="0">
                <a:hlinkClick r:id="rId5"/>
              </a:rPr>
              <a:t>https://www.imageeprocessing.com/2011/05/image-arithmetic.html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5005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088AE3-7376-491A-BF00-71DA3228D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0" y="1414462"/>
            <a:ext cx="7695886" cy="41735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DAEC04-CD9E-4537-81B8-E28424837913}"/>
              </a:ext>
            </a:extLst>
          </p:cNvPr>
          <p:cNvSpPr txBox="1"/>
          <p:nvPr/>
        </p:nvSpPr>
        <p:spPr>
          <a:xfrm>
            <a:off x="2235200" y="5923280"/>
            <a:ext cx="7516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Sumber</a:t>
            </a:r>
            <a:r>
              <a:rPr lang="en-US" dirty="0"/>
              <a:t>: </a:t>
            </a:r>
            <a:r>
              <a:rPr lang="en-US" i="1" dirty="0"/>
              <a:t>Digital Image Processing</a:t>
            </a:r>
            <a:r>
              <a:rPr lang="en-US" dirty="0"/>
              <a:t>, Amity Scholl of Engineering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18341134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15CD9-CA54-4A74-9249-B3CC7B850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5130"/>
            <a:ext cx="10515600" cy="5381833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Pengurangan</a:t>
            </a:r>
            <a:r>
              <a:rPr lang="en-US" b="1" dirty="0"/>
              <a:t> </a:t>
            </a:r>
            <a:r>
              <a:rPr lang="en-US" b="1" dirty="0" err="1"/>
              <a:t>citra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FB5092-92DF-4D70-9169-34C20B03EF14}"/>
              </a:ext>
            </a:extLst>
          </p:cNvPr>
          <p:cNvSpPr/>
          <p:nvPr/>
        </p:nvSpPr>
        <p:spPr>
          <a:xfrm>
            <a:off x="2485955" y="1570529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=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–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	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65C8C7-B49E-46EE-B17F-7A96656177B3}"/>
              </a:ext>
            </a:extLst>
          </p:cNvPr>
          <p:cNvSpPr/>
          <p:nvPr/>
        </p:nvSpPr>
        <p:spPr>
          <a:xfrm>
            <a:off x="1030356" y="2483644"/>
            <a:ext cx="105156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substraction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B,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C, int M, int N)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Mengurangkan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dan B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menajdi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C.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Citra A, B, dan C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berukuran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 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*/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int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j;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for 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&lt;=M-1;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for (j=0; j&lt;=N-1;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C[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][j]=A[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 - B[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][j];  	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if (C[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 != 0) C[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][j]=255;  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nyatakan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objek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berwarna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putih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59EF38-D576-46F5-8AB6-9292A3DDE3D0}"/>
              </a:ext>
            </a:extLst>
          </p:cNvPr>
          <p:cNvSpPr/>
          <p:nvPr/>
        </p:nvSpPr>
        <p:spPr>
          <a:xfrm>
            <a:off x="914400" y="2315817"/>
            <a:ext cx="10439399" cy="40253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9164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D7011-5B43-4B24-B022-67457B038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0400"/>
            <a:ext cx="10515600" cy="5516563"/>
          </a:xfrm>
        </p:spPr>
        <p:txBody>
          <a:bodyPr>
            <a:normAutofit/>
          </a:bodyPr>
          <a:lstStyle/>
          <a:p>
            <a:r>
              <a:rPr lang="id-ID" sz="2400" dirty="0"/>
              <a:t>Pengurangan </a:t>
            </a:r>
            <a:r>
              <a:rPr lang="en-US" sz="2400" dirty="0" err="1"/>
              <a:t>citra</a:t>
            </a:r>
            <a:r>
              <a:rPr lang="id-ID" sz="2400" dirty="0"/>
              <a:t> banyak digunakan untuk deteksi perubahan. </a:t>
            </a:r>
            <a:r>
              <a:rPr lang="en-US" sz="2400" dirty="0" err="1"/>
              <a:t>Misalnya</a:t>
            </a:r>
            <a:r>
              <a:rPr lang="en-US" sz="2400" dirty="0"/>
              <a:t> u</a:t>
            </a:r>
            <a:r>
              <a:rPr lang="id-ID" sz="2400" dirty="0"/>
              <a:t>ntuk mendeteksi komponen yang hilang dalam perakitan produk, </a:t>
            </a:r>
            <a:r>
              <a:rPr lang="en-US" sz="2400" dirty="0" err="1"/>
              <a:t>contohnya</a:t>
            </a:r>
            <a:r>
              <a:rPr lang="en-US" sz="2400" dirty="0"/>
              <a:t> u</a:t>
            </a:r>
            <a:r>
              <a:rPr lang="id-ID" sz="2400" dirty="0"/>
              <a:t>ntuk mendeteksi cacat pada PCB. </a:t>
            </a:r>
            <a:endParaRPr lang="en-US" sz="2400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73CB49E-0FD1-482D-B23D-6682A525D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102" y="2177394"/>
            <a:ext cx="8905875" cy="3276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772347-27AA-4478-BFAE-0DF48A2F45DA}"/>
              </a:ext>
            </a:extLst>
          </p:cNvPr>
          <p:cNvSpPr txBox="1"/>
          <p:nvPr/>
        </p:nvSpPr>
        <p:spPr>
          <a:xfrm>
            <a:off x="1258411" y="5984449"/>
            <a:ext cx="9675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Sumber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https://www.imageeprocessing.com/2011/05/image-arithmetic.html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6380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8BCF87-D81F-4652-8CA9-21F1742C0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46" y="1928191"/>
            <a:ext cx="3001618" cy="30016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1D51C7-1780-416E-983B-9C4362FA9B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958" y="1928191"/>
            <a:ext cx="3001618" cy="30016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EC4CC7-CC61-477D-8448-E7C8CE882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4325" y="1674868"/>
            <a:ext cx="4383484" cy="38726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EE62CF-822D-4A25-A480-D12FC1B3E745}"/>
              </a:ext>
            </a:extLst>
          </p:cNvPr>
          <p:cNvSpPr txBox="1"/>
          <p:nvPr/>
        </p:nvSpPr>
        <p:spPr>
          <a:xfrm>
            <a:off x="3778375" y="3198167"/>
            <a:ext cx="476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–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F20A26-EBD0-4BD2-87F6-D09811FB5452}"/>
              </a:ext>
            </a:extLst>
          </p:cNvPr>
          <p:cNvSpPr txBox="1"/>
          <p:nvPr/>
        </p:nvSpPr>
        <p:spPr>
          <a:xfrm>
            <a:off x="7427518" y="3219105"/>
            <a:ext cx="476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03DCFE-5B6D-4F93-8815-83B7541FDE7A}"/>
              </a:ext>
            </a:extLst>
          </p:cNvPr>
          <p:cNvSpPr txBox="1"/>
          <p:nvPr/>
        </p:nvSpPr>
        <p:spPr>
          <a:xfrm>
            <a:off x="596346" y="848808"/>
            <a:ext cx="9158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Pengurangan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mendeteksi</a:t>
            </a:r>
            <a:r>
              <a:rPr lang="en-US" sz="2400" dirty="0"/>
              <a:t> </a:t>
            </a:r>
            <a:r>
              <a:rPr lang="en-US" sz="2400" dirty="0" err="1"/>
              <a:t>objek</a:t>
            </a:r>
            <a:r>
              <a:rPr lang="en-US" sz="2400" dirty="0"/>
              <a:t> </a:t>
            </a:r>
            <a:r>
              <a:rPr lang="en-US" sz="2400" dirty="0" err="1"/>
              <a:t>tambahan</a:t>
            </a:r>
            <a:r>
              <a:rPr lang="en-US" sz="2400" dirty="0"/>
              <a:t> di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gambar</a:t>
            </a:r>
            <a:r>
              <a:rPr lang="en-US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238251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D0539-0FDC-46EB-8302-11B9696F7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5360"/>
            <a:ext cx="10515600" cy="5201603"/>
          </a:xfrm>
        </p:spPr>
        <p:txBody>
          <a:bodyPr/>
          <a:lstStyle/>
          <a:p>
            <a:r>
              <a:rPr lang="en-US" dirty="0"/>
              <a:t>Pada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medis</a:t>
            </a:r>
            <a:r>
              <a:rPr lang="en-US" dirty="0"/>
              <a:t>, </a:t>
            </a:r>
            <a:r>
              <a:rPr lang="en-US" dirty="0" err="1"/>
              <a:t>pengurangan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berguna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mendeteksi</a:t>
            </a:r>
            <a:r>
              <a:rPr lang="en-US" dirty="0"/>
              <a:t> </a:t>
            </a:r>
            <a:r>
              <a:rPr lang="en-US" dirty="0" err="1"/>
              <a:t>kelainan</a:t>
            </a:r>
            <a:r>
              <a:rPr lang="en-US" dirty="0"/>
              <a:t> pada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medis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35EEDF-2F87-472A-8E20-5E399B043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589" y="2060246"/>
            <a:ext cx="4457657" cy="439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524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1BFE2-855F-4B9E-A61D-824C6E23F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6249"/>
            <a:ext cx="10515600" cy="5590554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Perkalian</a:t>
            </a:r>
            <a:r>
              <a:rPr lang="en-US" b="1" dirty="0"/>
              <a:t> </a:t>
            </a:r>
            <a:r>
              <a:rPr lang="en-US" b="1" dirty="0" err="1"/>
              <a:t>citra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07C233-DFAE-4FB6-8324-5A11C4F0070E}"/>
              </a:ext>
            </a:extLst>
          </p:cNvPr>
          <p:cNvSpPr/>
          <p:nvPr/>
        </p:nvSpPr>
        <p:spPr>
          <a:xfrm>
            <a:off x="1133545" y="1086702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=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).*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	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F079F1-90A8-4370-8744-0DF84EEFE113}"/>
              </a:ext>
            </a:extLst>
          </p:cNvPr>
          <p:cNvSpPr/>
          <p:nvPr/>
        </p:nvSpPr>
        <p:spPr>
          <a:xfrm>
            <a:off x="974034" y="1844729"/>
            <a:ext cx="10243931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multiplication(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B,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C, int M, int N)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4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en-US" sz="1400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Mengalikan</a:t>
            </a:r>
            <a:r>
              <a:rPr lang="en-US" sz="14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sz="14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400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4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sz="14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en-US" sz="1400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sz="14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sz="14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C. 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4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Citra A, </a:t>
            </a:r>
            <a:r>
              <a:rPr lang="en-US" sz="1400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matriks</a:t>
            </a:r>
            <a:r>
              <a:rPr lang="en-US" sz="14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B, dan </a:t>
            </a:r>
            <a:r>
              <a:rPr lang="en-US" sz="1400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sz="14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perkalian</a:t>
            </a:r>
            <a:r>
              <a:rPr lang="en-US" sz="14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lang="en-US" sz="1400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berukuran</a:t>
            </a:r>
            <a:r>
              <a:rPr lang="en-US" sz="14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 </a:t>
            </a:r>
            <a:r>
              <a:rPr lang="en-US" sz="1400" i="1" dirty="0">
                <a:latin typeface="Courier New" panose="02070309020205020404" pitchFamily="49" charset="0"/>
                <a:ea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sz="14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N.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4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*/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int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j; 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for (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&lt;=M-1;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for (j=0; j&lt;=N-1;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for (k=0; k&lt;=N-1; k++)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{ C[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 = A[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][j]*B[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][j];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4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clipping */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if (C[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 &lt; 0) 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C[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 = 0;   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else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if (C[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 &gt; 255)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C[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][j]=255;</a:t>
            </a:r>
          </a:p>
          <a:p>
            <a:pPr algn="just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}  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7A5AD9-7200-4D6F-9124-23FF1BA953BA}"/>
              </a:ext>
            </a:extLst>
          </p:cNvPr>
          <p:cNvSpPr/>
          <p:nvPr/>
        </p:nvSpPr>
        <p:spPr>
          <a:xfrm>
            <a:off x="914401" y="1844729"/>
            <a:ext cx="10406270" cy="41857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972CFA-B455-45A6-83C1-A8EE6EB4F2CE}"/>
              </a:ext>
            </a:extLst>
          </p:cNvPr>
          <p:cNvSpPr txBox="1"/>
          <p:nvPr/>
        </p:nvSpPr>
        <p:spPr>
          <a:xfrm>
            <a:off x="4354576" y="1154858"/>
            <a:ext cx="6999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Symbol" panose="05050102010706020507" pitchFamily="18" charset="2"/>
              </a:rPr>
              <a:t> </a:t>
            </a:r>
            <a:r>
              <a:rPr lang="en-US" sz="2400" dirty="0" err="1">
                <a:sym typeface="Symbol" panose="05050102010706020507" pitchFamily="18" charset="2"/>
              </a:rPr>
              <a:t>m</a:t>
            </a:r>
            <a:r>
              <a:rPr lang="en-US" sz="2400" dirty="0" err="1"/>
              <a:t>engalikan</a:t>
            </a:r>
            <a:r>
              <a:rPr lang="en-US" sz="2400" dirty="0"/>
              <a:t> </a:t>
            </a:r>
            <a:r>
              <a:rPr lang="en-US" sz="2400" i="1" dirty="0"/>
              <a:t>pixel-pixel </a:t>
            </a:r>
            <a:r>
              <a:rPr lang="en-US" sz="2400" dirty="0"/>
              <a:t>pada </a:t>
            </a:r>
            <a:r>
              <a:rPr lang="en-US" sz="2400" dirty="0" err="1"/>
              <a:t>posisi</a:t>
            </a:r>
            <a:r>
              <a:rPr lang="en-US" sz="2400" dirty="0"/>
              <a:t> yang </a:t>
            </a:r>
            <a:r>
              <a:rPr lang="en-US" sz="2400" dirty="0" err="1"/>
              <a:t>bersesuaian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384250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360B8-8B90-4623-A2F9-1BD3DA640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445443"/>
          </a:xfrm>
        </p:spPr>
        <p:txBody>
          <a:bodyPr>
            <a:normAutofit/>
          </a:bodyPr>
          <a:lstStyle/>
          <a:p>
            <a:r>
              <a:rPr lang="en-US" sz="2400" dirty="0" err="1"/>
              <a:t>Perkalian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</a:t>
            </a:r>
            <a:r>
              <a:rPr lang="en-US" sz="2400" dirty="0" err="1"/>
              <a:t>umumnya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di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penapisan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(</a:t>
            </a:r>
            <a:r>
              <a:rPr lang="en-US" sz="2400" i="1" dirty="0"/>
              <a:t>image masking </a:t>
            </a:r>
            <a:r>
              <a:rPr lang="en-US" sz="2400" dirty="0" err="1"/>
              <a:t>atau</a:t>
            </a:r>
            <a:r>
              <a:rPr lang="en-US" sz="2400" i="1" dirty="0"/>
              <a:t> image filtering</a:t>
            </a:r>
            <a:r>
              <a:rPr lang="en-US" sz="2400" dirty="0"/>
              <a:t>) </a:t>
            </a:r>
            <a:r>
              <a:rPr lang="en-US" sz="2400" dirty="0">
                <a:sym typeface="Symbol" panose="05050102010706020507" pitchFamily="18" charset="2"/>
              </a:rPr>
              <a:t> </a:t>
            </a:r>
            <a:r>
              <a:rPr lang="en-US" sz="2400" dirty="0" err="1">
                <a:sym typeface="Symbol" panose="05050102010706020507" pitchFamily="18" charset="2"/>
              </a:rPr>
              <a:t>mengalikan</a:t>
            </a:r>
            <a:r>
              <a:rPr lang="en-US" sz="2400" dirty="0">
                <a:sym typeface="Symbol" panose="05050102010706020507" pitchFamily="18" charset="2"/>
              </a:rPr>
              <a:t> </a:t>
            </a:r>
            <a:r>
              <a:rPr lang="en-US" sz="2400" dirty="0" err="1">
                <a:sym typeface="Symbol" panose="05050102010706020507" pitchFamily="18" charset="2"/>
              </a:rPr>
              <a:t>citra</a:t>
            </a:r>
            <a:r>
              <a:rPr lang="en-US" sz="2400" dirty="0">
                <a:sym typeface="Symbol" panose="05050102010706020507" pitchFamily="18" charset="2"/>
              </a:rPr>
              <a:t> </a:t>
            </a:r>
            <a:r>
              <a:rPr lang="en-US" sz="2400" dirty="0" err="1">
                <a:sym typeface="Symbol" panose="05050102010706020507" pitchFamily="18" charset="2"/>
              </a:rPr>
              <a:t>dengan</a:t>
            </a:r>
            <a:r>
              <a:rPr lang="en-US" sz="2400" dirty="0">
                <a:sym typeface="Symbol" panose="05050102010706020507" pitchFamily="18" charset="2"/>
              </a:rPr>
              <a:t> </a:t>
            </a:r>
            <a:r>
              <a:rPr lang="en-US" sz="2400" dirty="0" err="1">
                <a:sym typeface="Symbol" panose="05050102010706020507" pitchFamily="18" charset="2"/>
              </a:rPr>
              <a:t>sebuah</a:t>
            </a:r>
            <a:r>
              <a:rPr lang="en-US" sz="2400" dirty="0">
                <a:sym typeface="Symbol" panose="05050102010706020507" pitchFamily="18" charset="2"/>
              </a:rPr>
              <a:t> </a:t>
            </a:r>
            <a:r>
              <a:rPr lang="en-US" sz="2400" i="1" dirty="0">
                <a:sym typeface="Symbol" panose="05050102010706020507" pitchFamily="18" charset="2"/>
              </a:rPr>
              <a:t>mask</a:t>
            </a:r>
            <a:r>
              <a:rPr lang="en-US" sz="2400" dirty="0">
                <a:sym typeface="Symbol" panose="05050102010706020507" pitchFamily="18" charset="2"/>
              </a:rPr>
              <a:t> yang </a:t>
            </a:r>
            <a:r>
              <a:rPr lang="en-US" sz="2400" dirty="0" err="1">
                <a:sym typeface="Symbol" panose="05050102010706020507" pitchFamily="18" charset="2"/>
              </a:rPr>
              <a:t>berukuran</a:t>
            </a:r>
            <a:r>
              <a:rPr lang="en-US" sz="2400" dirty="0">
                <a:sym typeface="Symbol" panose="05050102010706020507" pitchFamily="18" charset="2"/>
              </a:rPr>
              <a:t> </a:t>
            </a:r>
            <a:r>
              <a:rPr lang="en-US" sz="2400" dirty="0" err="1">
                <a:sym typeface="Symbol" panose="05050102010706020507" pitchFamily="18" charset="2"/>
              </a:rPr>
              <a:t>lebih</a:t>
            </a:r>
            <a:r>
              <a:rPr lang="en-US" sz="2400" dirty="0">
                <a:sym typeface="Symbol" panose="05050102010706020507" pitchFamily="18" charset="2"/>
              </a:rPr>
              <a:t> </a:t>
            </a:r>
            <a:r>
              <a:rPr lang="en-US" sz="2400" dirty="0" err="1">
                <a:sym typeface="Symbol" panose="05050102010706020507" pitchFamily="18" charset="2"/>
              </a:rPr>
              <a:t>kecil</a:t>
            </a:r>
            <a:r>
              <a:rPr lang="en-US" sz="2400" dirty="0">
                <a:sym typeface="Symbol" panose="05050102010706020507" pitchFamily="18" charset="2"/>
              </a:rPr>
              <a:t> </a:t>
            </a:r>
            <a:r>
              <a:rPr lang="en-US" sz="2400" dirty="0" err="1">
                <a:sym typeface="Symbol" panose="05050102010706020507" pitchFamily="18" charset="2"/>
              </a:rPr>
              <a:t>dari</a:t>
            </a:r>
            <a:r>
              <a:rPr lang="en-US" sz="2400" dirty="0">
                <a:sym typeface="Symbol" panose="05050102010706020507" pitchFamily="18" charset="2"/>
              </a:rPr>
              <a:t> </a:t>
            </a:r>
            <a:r>
              <a:rPr lang="en-US" sz="2400" dirty="0" err="1">
                <a:sym typeface="Symbol" panose="05050102010706020507" pitchFamily="18" charset="2"/>
              </a:rPr>
              <a:t>ukuran</a:t>
            </a:r>
            <a:r>
              <a:rPr lang="en-US" sz="2400" dirty="0">
                <a:sym typeface="Symbol" panose="05050102010706020507" pitchFamily="18" charset="2"/>
              </a:rPr>
              <a:t> </a:t>
            </a:r>
            <a:r>
              <a:rPr lang="en-US" sz="2400" dirty="0" err="1">
                <a:sym typeface="Symbol" panose="05050102010706020507" pitchFamily="18" charset="2"/>
              </a:rPr>
              <a:t>citra</a:t>
            </a:r>
            <a:endParaRPr lang="en-US" sz="2400" dirty="0"/>
          </a:p>
        </p:txBody>
      </p:sp>
      <p:pic>
        <p:nvPicPr>
          <p:cNvPr id="7" name="Picture 6" descr="A picture containing text, crossword puzzle&#10;&#10;Description automatically generated">
            <a:extLst>
              <a:ext uri="{FF2B5EF4-FFF2-40B4-BE49-F238E27FC236}">
                <a16:creationId xmlns:a16="http://schemas.microsoft.com/office/drawing/2014/main" id="{FE522AE5-61E7-45A3-886E-9C0559C72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600" y="1706880"/>
            <a:ext cx="6380480" cy="4785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F72FBE-58B4-417C-A97D-D185F0D86062}"/>
              </a:ext>
            </a:extLst>
          </p:cNvPr>
          <p:cNvSpPr txBox="1"/>
          <p:nvPr/>
        </p:nvSpPr>
        <p:spPr>
          <a:xfrm>
            <a:off x="5953760" y="63195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Sumber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https://cse19-iiith.vlabs.ac.in/theory.php?exp=neigh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3237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lendar&#10;&#10;Description automatically generated with medium confidence">
            <a:extLst>
              <a:ext uri="{FF2B5EF4-FFF2-40B4-BE49-F238E27FC236}">
                <a16:creationId xmlns:a16="http://schemas.microsoft.com/office/drawing/2014/main" id="{CF03BE50-8C1B-4228-83E4-F6F33E409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117" y="670128"/>
            <a:ext cx="6604448" cy="495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4246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70857"/>
            <a:ext cx="10515600" cy="5306106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 err="1"/>
              <a:t>Penjumlahan</a:t>
            </a:r>
            <a:r>
              <a:rPr lang="en-US" b="1" dirty="0"/>
              <a:t>/</a:t>
            </a:r>
            <a:r>
              <a:rPr lang="en-US" b="1" dirty="0" err="1"/>
              <a:t>pengurangan</a:t>
            </a:r>
            <a:r>
              <a:rPr lang="en-US" b="1" dirty="0"/>
              <a:t> </a:t>
            </a:r>
            <a:r>
              <a:rPr lang="en-US" b="1" dirty="0" err="1"/>
              <a:t>citra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skalar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i="1" dirty="0"/>
              <a:t>Image brightening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315365" y="1611477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=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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US" sz="2400" dirty="0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245680"/>
              </p:ext>
            </p:extLst>
          </p:nvPr>
        </p:nvGraphicFramePr>
        <p:xfrm>
          <a:off x="2079916" y="3074080"/>
          <a:ext cx="3190104" cy="3190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3253089" imgH="3253089" progId="Photoshop.Image.7">
                  <p:embed/>
                </p:oleObj>
              </mc:Choice>
              <mc:Fallback>
                <p:oleObj name="Image" r:id="rId2" imgW="3253089" imgH="3253089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916" y="3074080"/>
                        <a:ext cx="3190104" cy="31901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8264" y="2808514"/>
            <a:ext cx="4778221" cy="404948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270936" y="6396334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=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+ 100	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66928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86743" y="528268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 108  108  108  107  107  107  107  106  106  106</a:t>
            </a:r>
          </a:p>
          <a:p>
            <a:r>
              <a:rPr lang="en-US" dirty="0"/>
              <a:t>  107  107  107  107  107  107  107  106  106  106</a:t>
            </a:r>
          </a:p>
          <a:p>
            <a:r>
              <a:rPr lang="en-US" dirty="0"/>
              <a:t>  107  107  107  107  106  106  106  106  106  106</a:t>
            </a:r>
          </a:p>
          <a:p>
            <a:r>
              <a:rPr lang="en-US" dirty="0"/>
              <a:t>  107  107  107  107  106  106  105  106  107  106</a:t>
            </a:r>
          </a:p>
          <a:p>
            <a:r>
              <a:rPr lang="en-US" dirty="0"/>
              <a:t>  107  108  108  107  107  107  107  106  106  107</a:t>
            </a:r>
          </a:p>
          <a:p>
            <a:r>
              <a:rPr lang="en-US" dirty="0"/>
              <a:t>  108  108  108  108  106  106  106  107  107  107</a:t>
            </a:r>
          </a:p>
          <a:p>
            <a:r>
              <a:rPr lang="en-US" dirty="0"/>
              <a:t>  108  108  108  108  106  106  106  107  107  107</a:t>
            </a:r>
          </a:p>
          <a:p>
            <a:r>
              <a:rPr lang="en-US" dirty="0"/>
              <a:t>  108  108  108  108  106  106  106  107  107  106</a:t>
            </a:r>
          </a:p>
          <a:p>
            <a:r>
              <a:rPr lang="en-US" dirty="0"/>
              <a:t>  108  108  108  107  106  106  107  107  106  106</a:t>
            </a:r>
          </a:p>
          <a:p>
            <a:r>
              <a:rPr lang="en-US" dirty="0"/>
              <a:t>  108  108  108  108  107  107  106  106  107  107</a:t>
            </a:r>
          </a:p>
        </p:txBody>
      </p:sp>
      <p:sp>
        <p:nvSpPr>
          <p:cNvPr id="3" name="Rectangle 2"/>
          <p:cNvSpPr/>
          <p:nvPr/>
        </p:nvSpPr>
        <p:spPr>
          <a:xfrm>
            <a:off x="2786743" y="3902839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 208  208  208  207  207  207  207  206  206  206</a:t>
            </a:r>
          </a:p>
          <a:p>
            <a:r>
              <a:rPr lang="en-US" dirty="0"/>
              <a:t>  207  207  207  207  207  207  207  206  206  206</a:t>
            </a:r>
          </a:p>
          <a:p>
            <a:r>
              <a:rPr lang="en-US" dirty="0"/>
              <a:t>  207  207  207  207  206  206  206  206  206  206</a:t>
            </a:r>
          </a:p>
          <a:p>
            <a:r>
              <a:rPr lang="en-US" dirty="0"/>
              <a:t>  207  207  207  207  206  206  205  206  207  206</a:t>
            </a:r>
          </a:p>
          <a:p>
            <a:r>
              <a:rPr lang="en-US" dirty="0"/>
              <a:t>  207  208  208  207  207  207  207  206  206  207</a:t>
            </a:r>
          </a:p>
          <a:p>
            <a:r>
              <a:rPr lang="en-US" dirty="0"/>
              <a:t>  208  208  208  208  206  206  206  207  207  207</a:t>
            </a:r>
          </a:p>
          <a:p>
            <a:r>
              <a:rPr lang="en-US" dirty="0"/>
              <a:t>  208  208  208  208  206  206  206  207  207  207</a:t>
            </a:r>
          </a:p>
          <a:p>
            <a:r>
              <a:rPr lang="en-US" dirty="0"/>
              <a:t>  208  208  208  208  206  206  206  207  207  206</a:t>
            </a:r>
          </a:p>
          <a:p>
            <a:r>
              <a:rPr lang="en-US" dirty="0"/>
              <a:t>  208  208  208  207  206  206  207  207  206  206</a:t>
            </a:r>
          </a:p>
          <a:p>
            <a:r>
              <a:rPr lang="en-US" dirty="0"/>
              <a:t>  208  208  208  208  207  207  206  206  207  207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5600" y="158936"/>
            <a:ext cx="4059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Nilai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sebagian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pixel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sebelum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pencerahan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95599" y="3468193"/>
            <a:ext cx="4643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Nilai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sebagian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pixel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setelah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pencerahan</a:t>
            </a:r>
            <a:r>
              <a:rPr lang="en-US" dirty="0">
                <a:solidFill>
                  <a:srgbClr val="FF0000"/>
                </a:solidFill>
              </a:rPr>
              <a:t> (+ 100):</a:t>
            </a:r>
          </a:p>
        </p:txBody>
      </p:sp>
    </p:spTree>
    <p:extLst>
      <p:ext uri="{BB962C8B-B14F-4D97-AF65-F5344CB8AC3E}">
        <p14:creationId xmlns:p14="http://schemas.microsoft.com/office/powerpoint/2010/main" val="34664731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83771"/>
            <a:ext cx="10515600" cy="5393192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 err="1"/>
              <a:t>Perkalian</a:t>
            </a:r>
            <a:r>
              <a:rPr lang="en-US" b="1" dirty="0"/>
              <a:t>/</a:t>
            </a:r>
            <a:r>
              <a:rPr lang="en-US" b="1" dirty="0" err="1"/>
              <a:t>pembagian</a:t>
            </a:r>
            <a:r>
              <a:rPr lang="en-US" b="1" dirty="0"/>
              <a:t> Citra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Skalar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perkalian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skalar</a:t>
            </a:r>
            <a:r>
              <a:rPr lang="en-US" dirty="0"/>
              <a:t> </a:t>
            </a:r>
            <a:r>
              <a:rPr lang="en-US" dirty="0" err="1"/>
              <a:t>dipakai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kalibrasi</a:t>
            </a:r>
            <a:r>
              <a:rPr lang="en-US" dirty="0"/>
              <a:t> </a:t>
            </a:r>
            <a:r>
              <a:rPr lang="en-US" dirty="0" err="1"/>
              <a:t>kecerahan</a:t>
            </a:r>
            <a:r>
              <a:rPr lang="en-US" dirty="0"/>
              <a:t> (</a:t>
            </a:r>
            <a:r>
              <a:rPr lang="en-US" i="1" dirty="0" err="1"/>
              <a:t>callibration</a:t>
            </a:r>
            <a:r>
              <a:rPr lang="en-US" i="1" dirty="0"/>
              <a:t> of brightness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pembagian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skalar</a:t>
            </a:r>
            <a:r>
              <a:rPr lang="en-US" dirty="0"/>
              <a:t> </a:t>
            </a:r>
            <a:r>
              <a:rPr lang="en-US" dirty="0" err="1"/>
              <a:t>dipakai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normalisasi</a:t>
            </a:r>
            <a:r>
              <a:rPr lang="en-US" dirty="0"/>
              <a:t> </a:t>
            </a:r>
            <a:r>
              <a:rPr lang="en-US" dirty="0" err="1"/>
              <a:t>kecerahan</a:t>
            </a:r>
            <a:r>
              <a:rPr lang="en-US" dirty="0"/>
              <a:t> (</a:t>
            </a:r>
            <a:r>
              <a:rPr lang="en-US" i="1" dirty="0"/>
              <a:t>normalization of brightness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78792" y="1633248"/>
            <a:ext cx="60262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=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dan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=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/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6704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- up of a microscope&#10;&#10;Description automatically generated with low confidence">
            <a:extLst>
              <a:ext uri="{FF2B5EF4-FFF2-40B4-BE49-F238E27FC236}">
                <a16:creationId xmlns:a16="http://schemas.microsoft.com/office/drawing/2014/main" id="{0AB3EC98-1FFD-4F10-8258-B39537282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25" y="1677472"/>
            <a:ext cx="3891915" cy="2930383"/>
          </a:xfrm>
          <a:prstGeom prst="rect">
            <a:avLst/>
          </a:prstGeom>
        </p:spPr>
      </p:pic>
      <p:pic>
        <p:nvPicPr>
          <p:cNvPr id="5" name="Picture 4" descr="A picture containing indoor&#10;&#10;Description automatically generated">
            <a:extLst>
              <a:ext uri="{FF2B5EF4-FFF2-40B4-BE49-F238E27FC236}">
                <a16:creationId xmlns:a16="http://schemas.microsoft.com/office/drawing/2014/main" id="{E463F631-894D-4F95-A9C9-ADD665A6ED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1373" y="1677472"/>
            <a:ext cx="3994542" cy="30076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8F132C-C176-4DC0-BC7E-C0629947E9EB}"/>
              </a:ext>
            </a:extLst>
          </p:cNvPr>
          <p:cNvSpPr txBox="1"/>
          <p:nvPr/>
        </p:nvSpPr>
        <p:spPr>
          <a:xfrm>
            <a:off x="518160" y="721360"/>
            <a:ext cx="4802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Contoh</a:t>
            </a:r>
            <a:r>
              <a:rPr lang="en-US" sz="2400" dirty="0"/>
              <a:t> </a:t>
            </a:r>
            <a:r>
              <a:rPr lang="en-US" sz="2400" dirty="0" err="1"/>
              <a:t>perkalian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skalar</a:t>
            </a:r>
            <a:r>
              <a:rPr lang="en-US" sz="2400" dirty="0"/>
              <a:t>: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D63CEA3-CD0A-412E-916E-41B49D732ADC}"/>
              </a:ext>
            </a:extLst>
          </p:cNvPr>
          <p:cNvSpPr/>
          <p:nvPr/>
        </p:nvSpPr>
        <p:spPr>
          <a:xfrm>
            <a:off x="5110480" y="2926080"/>
            <a:ext cx="2164080" cy="5029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07EEB1-0CFC-48AC-93B1-A913D32A90A8}"/>
              </a:ext>
            </a:extLst>
          </p:cNvPr>
          <p:cNvSpPr txBox="1"/>
          <p:nvPr/>
        </p:nvSpPr>
        <p:spPr>
          <a:xfrm>
            <a:off x="5059166" y="2336800"/>
            <a:ext cx="2367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B(</a:t>
            </a:r>
            <a:r>
              <a:rPr lang="en-US" sz="2400" dirty="0" err="1"/>
              <a:t>x,y</a:t>
            </a:r>
            <a:r>
              <a:rPr lang="en-US" sz="2400" dirty="0"/>
              <a:t>) = 3 </a:t>
            </a:r>
            <a:r>
              <a:rPr lang="en-US" sz="2400" dirty="0">
                <a:sym typeface="Symbol" panose="05050102010706020507" pitchFamily="18" charset="2"/>
              </a:rPr>
              <a:t> </a:t>
            </a:r>
            <a:r>
              <a:rPr lang="en-US" sz="2400" dirty="0"/>
              <a:t>A(</a:t>
            </a:r>
            <a:r>
              <a:rPr lang="en-US" sz="2400" dirty="0" err="1"/>
              <a:t>x,y</a:t>
            </a:r>
            <a:r>
              <a:rPr lang="en-US" sz="2400" dirty="0"/>
              <a:t>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5B6E60-77D5-4B49-ACC1-6B562FB80058}"/>
              </a:ext>
            </a:extLst>
          </p:cNvPr>
          <p:cNvSpPr txBox="1"/>
          <p:nvPr/>
        </p:nvSpPr>
        <p:spPr>
          <a:xfrm>
            <a:off x="1849120" y="4927600"/>
            <a:ext cx="1351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Citra </a:t>
            </a:r>
            <a:r>
              <a:rPr lang="en-US" dirty="0" err="1"/>
              <a:t>semula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C393CF-353D-416C-AD50-2E9335FB59F4}"/>
              </a:ext>
            </a:extLst>
          </p:cNvPr>
          <p:cNvSpPr txBox="1"/>
          <p:nvPr/>
        </p:nvSpPr>
        <p:spPr>
          <a:xfrm>
            <a:off x="7955280" y="4937760"/>
            <a:ext cx="403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Citra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pixel </a:t>
            </a:r>
            <a:r>
              <a:rPr lang="en-US" dirty="0" err="1"/>
              <a:t>dikali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C31B1E-1548-4076-9A74-B8C0EC0BC043}"/>
              </a:ext>
            </a:extLst>
          </p:cNvPr>
          <p:cNvSpPr txBox="1"/>
          <p:nvPr/>
        </p:nvSpPr>
        <p:spPr>
          <a:xfrm>
            <a:off x="3200837" y="5951974"/>
            <a:ext cx="764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Sumber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https://homepages.inf.ed.ac.uk/rbf/HIPR2/pixmult.htm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6897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+mn-lt"/>
              </a:rPr>
              <a:t>Operasi</a:t>
            </a:r>
            <a:r>
              <a:rPr lang="en-US" b="1" dirty="0">
                <a:latin typeface="+mn-lt"/>
              </a:rPr>
              <a:t> Boolean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Operasi</a:t>
            </a:r>
            <a:r>
              <a:rPr lang="en-US" dirty="0"/>
              <a:t> AND: 	</a:t>
            </a:r>
            <a:r>
              <a:rPr lang="en-US" i="1" dirty="0">
                <a:solidFill>
                  <a:srgbClr val="FF0000"/>
                </a:solidFill>
              </a:rPr>
              <a:t>C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) = </a:t>
            </a:r>
            <a:r>
              <a:rPr lang="en-US" i="1" dirty="0">
                <a:solidFill>
                  <a:srgbClr val="FF0000"/>
                </a:solidFill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b="1" dirty="0">
                <a:solidFill>
                  <a:srgbClr val="FF0000"/>
                </a:solidFill>
              </a:rPr>
              <a:t>and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B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) </a:t>
            </a:r>
          </a:p>
          <a:p>
            <a:endParaRPr lang="en-US" dirty="0"/>
          </a:p>
          <a:p>
            <a:r>
              <a:rPr lang="en-US" dirty="0" err="1"/>
              <a:t>Operasi</a:t>
            </a:r>
            <a:r>
              <a:rPr lang="en-US" dirty="0"/>
              <a:t> OR: 	</a:t>
            </a:r>
            <a:r>
              <a:rPr lang="en-US" i="1" dirty="0">
                <a:solidFill>
                  <a:srgbClr val="FF0000"/>
                </a:solidFill>
              </a:rPr>
              <a:t>C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) = </a:t>
            </a:r>
            <a:r>
              <a:rPr lang="en-US" i="1" dirty="0">
                <a:solidFill>
                  <a:srgbClr val="FF0000"/>
                </a:solidFill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b="1" dirty="0">
                <a:solidFill>
                  <a:srgbClr val="FF0000"/>
                </a:solidFill>
              </a:rPr>
              <a:t>or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B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) </a:t>
            </a:r>
          </a:p>
          <a:p>
            <a:endParaRPr lang="en-US" dirty="0"/>
          </a:p>
          <a:p>
            <a:r>
              <a:rPr lang="en-US" dirty="0" err="1"/>
              <a:t>Operasi</a:t>
            </a:r>
            <a:r>
              <a:rPr lang="en-US" dirty="0"/>
              <a:t> NOT: 	</a:t>
            </a:r>
            <a:r>
              <a:rPr lang="en-US" i="1" dirty="0">
                <a:solidFill>
                  <a:srgbClr val="FF0000"/>
                </a:solidFill>
              </a:rPr>
              <a:t>C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) =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) 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/>
              <a:t>Operasi</a:t>
            </a:r>
            <a:r>
              <a:rPr lang="en-US" dirty="0"/>
              <a:t> XOR: 	</a:t>
            </a:r>
            <a:r>
              <a:rPr lang="en-US" i="1" dirty="0">
                <a:solidFill>
                  <a:srgbClr val="FF0000"/>
                </a:solidFill>
              </a:rPr>
              <a:t> C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) = </a:t>
            </a:r>
            <a:r>
              <a:rPr lang="en-US" i="1" dirty="0">
                <a:solidFill>
                  <a:srgbClr val="FF0000"/>
                </a:solidFill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i="1" dirty="0" err="1">
                <a:solidFill>
                  <a:srgbClr val="FF0000"/>
                </a:solidFill>
              </a:rPr>
              <a:t>x</a:t>
            </a:r>
            <a:r>
              <a:rPr lang="en-US" b="1" dirty="0" err="1">
                <a:solidFill>
                  <a:srgbClr val="FF0000"/>
                </a:solidFill>
              </a:rPr>
              <a:t>or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B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0306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21A6087-CAA1-4F71-9304-38BA13C2E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60" y="941704"/>
            <a:ext cx="9723120" cy="546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84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17466"/>
            <a:ext cx="10515600" cy="5316992"/>
          </a:xfrm>
        </p:spPr>
        <p:txBody>
          <a:bodyPr/>
          <a:lstStyle/>
          <a:p>
            <a:r>
              <a:rPr lang="en-US" sz="2400" dirty="0" err="1"/>
              <a:t>Operasi</a:t>
            </a:r>
            <a:r>
              <a:rPr lang="en-US" sz="2400" dirty="0"/>
              <a:t> NOT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menghasilkan</a:t>
            </a:r>
            <a:r>
              <a:rPr lang="en-US" sz="2400" dirty="0"/>
              <a:t> </a:t>
            </a:r>
            <a:r>
              <a:rPr lang="en-US" sz="2400" dirty="0" err="1"/>
              <a:t>komplemen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endParaRPr lang="en-US" sz="2400" dirty="0"/>
          </a:p>
          <a:p>
            <a:r>
              <a:rPr lang="en-US" sz="2400" dirty="0" err="1"/>
              <a:t>Contoh</a:t>
            </a:r>
            <a:r>
              <a:rPr lang="en-US" sz="2400" dirty="0"/>
              <a:t> </a:t>
            </a:r>
            <a:r>
              <a:rPr lang="en-US" sz="2400" dirty="0" err="1"/>
              <a:t>operasi</a:t>
            </a:r>
            <a:r>
              <a:rPr lang="en-US" sz="2400" dirty="0"/>
              <a:t> NOT</a:t>
            </a:r>
            <a:r>
              <a:rPr lang="en-US" dirty="0"/>
              <a:t>: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455" y="1603942"/>
            <a:ext cx="1533525" cy="1914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453" y="4262438"/>
            <a:ext cx="1533525" cy="1914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14125" y="6232838"/>
            <a:ext cx="1460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</a:t>
            </a:r>
            <a:r>
              <a:rPr lang="en-US" dirty="0" err="1"/>
              <a:t>Ganesha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804919" y="3518467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Ganesha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315950" y="2041139"/>
            <a:ext cx="730431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not(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citra_biner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citra_biner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B, int M, int N)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komplemen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biner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A.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Komplemennya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disimpan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B.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Ukuran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 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N.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*/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j;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for 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&lt;=M-1;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for (j=0; j&lt;=N-1;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B[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 = !A[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][j]; 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   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59EF38-D576-46F5-8AB6-9292A3DDE3D0}"/>
              </a:ext>
            </a:extLst>
          </p:cNvPr>
          <p:cNvSpPr/>
          <p:nvPr/>
        </p:nvSpPr>
        <p:spPr>
          <a:xfrm>
            <a:off x="4147457" y="1875124"/>
            <a:ext cx="7652657" cy="40253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8756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2C3BA942-FDC0-4138-8D99-1DC62D1F8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70" y="1576664"/>
            <a:ext cx="609600" cy="609600"/>
          </a:xfrm>
          <a:prstGeom prst="rect">
            <a:avLst/>
          </a:prstGeom>
          <a:solidFill>
            <a:srgbClr val="E5E01B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1</a:t>
            </a:r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82D5FE31-40D4-4342-8F7B-920FFCB34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670" y="1576664"/>
            <a:ext cx="609600" cy="609600"/>
          </a:xfrm>
          <a:prstGeom prst="rect">
            <a:avLst/>
          </a:prstGeom>
          <a:solidFill>
            <a:srgbClr val="E5E01B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2</a:t>
            </a:r>
          </a:p>
        </p:txBody>
      </p:sp>
      <p:sp>
        <p:nvSpPr>
          <p:cNvPr id="4" name="Rectangle 38">
            <a:extLst>
              <a:ext uri="{FF2B5EF4-FFF2-40B4-BE49-F238E27FC236}">
                <a16:creationId xmlns:a16="http://schemas.microsoft.com/office/drawing/2014/main" id="{EA8541D6-CEE2-469C-B17C-A29B19EB4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2270" y="1576664"/>
            <a:ext cx="609600" cy="609600"/>
          </a:xfrm>
          <a:prstGeom prst="rect">
            <a:avLst/>
          </a:prstGeom>
          <a:solidFill>
            <a:srgbClr val="E5E01B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3</a:t>
            </a:r>
          </a:p>
        </p:txBody>
      </p:sp>
      <p:sp>
        <p:nvSpPr>
          <p:cNvPr id="5" name="Rectangle 39">
            <a:extLst>
              <a:ext uri="{FF2B5EF4-FFF2-40B4-BE49-F238E27FC236}">
                <a16:creationId xmlns:a16="http://schemas.microsoft.com/office/drawing/2014/main" id="{E8AA445E-5DBD-466B-9C53-C1249746E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1870" y="1576664"/>
            <a:ext cx="609600" cy="609600"/>
          </a:xfrm>
          <a:prstGeom prst="rect">
            <a:avLst/>
          </a:prstGeom>
          <a:solidFill>
            <a:srgbClr val="E5E01B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9</a:t>
            </a: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A5ED971F-5B7F-41D4-ADD7-20531D4A6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70" y="2186264"/>
            <a:ext cx="609600" cy="609600"/>
          </a:xfrm>
          <a:prstGeom prst="rect">
            <a:avLst/>
          </a:prstGeom>
          <a:solidFill>
            <a:srgbClr val="E5E01B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7</a:t>
            </a:r>
          </a:p>
        </p:txBody>
      </p:sp>
      <p:sp>
        <p:nvSpPr>
          <p:cNvPr id="7" name="Rectangle 41">
            <a:extLst>
              <a:ext uri="{FF2B5EF4-FFF2-40B4-BE49-F238E27FC236}">
                <a16:creationId xmlns:a16="http://schemas.microsoft.com/office/drawing/2014/main" id="{71C33237-5C72-46C1-B6FC-3737FCFF1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670" y="2186264"/>
            <a:ext cx="609600" cy="609600"/>
          </a:xfrm>
          <a:prstGeom prst="rect">
            <a:avLst/>
          </a:prstGeom>
          <a:solidFill>
            <a:srgbClr val="E5E01B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3</a:t>
            </a:r>
          </a:p>
        </p:txBody>
      </p:sp>
      <p:sp>
        <p:nvSpPr>
          <p:cNvPr id="8" name="Rectangle 42">
            <a:extLst>
              <a:ext uri="{FF2B5EF4-FFF2-40B4-BE49-F238E27FC236}">
                <a16:creationId xmlns:a16="http://schemas.microsoft.com/office/drawing/2014/main" id="{DF7F4E7B-E45F-4270-9AA3-E6A84DD55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2270" y="2186264"/>
            <a:ext cx="609600" cy="609600"/>
          </a:xfrm>
          <a:prstGeom prst="rect">
            <a:avLst/>
          </a:prstGeom>
          <a:solidFill>
            <a:srgbClr val="E5E01B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6</a:t>
            </a:r>
          </a:p>
        </p:txBody>
      </p:sp>
      <p:sp>
        <p:nvSpPr>
          <p:cNvPr id="9" name="Rectangle 43">
            <a:extLst>
              <a:ext uri="{FF2B5EF4-FFF2-40B4-BE49-F238E27FC236}">
                <a16:creationId xmlns:a16="http://schemas.microsoft.com/office/drawing/2014/main" id="{8ED01B29-D344-469A-B1CA-1D23C64B5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1870" y="2186264"/>
            <a:ext cx="609600" cy="609600"/>
          </a:xfrm>
          <a:prstGeom prst="rect">
            <a:avLst/>
          </a:prstGeom>
          <a:solidFill>
            <a:srgbClr val="E5E01B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4</a:t>
            </a:r>
          </a:p>
        </p:txBody>
      </p:sp>
      <p:sp>
        <p:nvSpPr>
          <p:cNvPr id="10" name="Rectangle 44">
            <a:extLst>
              <a:ext uri="{FF2B5EF4-FFF2-40B4-BE49-F238E27FC236}">
                <a16:creationId xmlns:a16="http://schemas.microsoft.com/office/drawing/2014/main" id="{A5B96176-22A0-4BAA-AB58-0C1687293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70" y="4167464"/>
            <a:ext cx="609600" cy="609600"/>
          </a:xfrm>
          <a:prstGeom prst="rect">
            <a:avLst/>
          </a:prstGeom>
          <a:solidFill>
            <a:srgbClr val="8AC739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1</a:t>
            </a:r>
          </a:p>
        </p:txBody>
      </p:sp>
      <p:sp>
        <p:nvSpPr>
          <p:cNvPr id="11" name="Rectangle 45">
            <a:extLst>
              <a:ext uri="{FF2B5EF4-FFF2-40B4-BE49-F238E27FC236}">
                <a16:creationId xmlns:a16="http://schemas.microsoft.com/office/drawing/2014/main" id="{340B3886-EB31-4137-985D-F939F623F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670" y="4167464"/>
            <a:ext cx="609600" cy="609600"/>
          </a:xfrm>
          <a:prstGeom prst="rect">
            <a:avLst/>
          </a:prstGeom>
          <a:solidFill>
            <a:srgbClr val="8AC739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1</a:t>
            </a:r>
          </a:p>
        </p:txBody>
      </p:sp>
      <p:sp>
        <p:nvSpPr>
          <p:cNvPr id="12" name="Rectangle 46">
            <a:extLst>
              <a:ext uri="{FF2B5EF4-FFF2-40B4-BE49-F238E27FC236}">
                <a16:creationId xmlns:a16="http://schemas.microsoft.com/office/drawing/2014/main" id="{548DE38C-3F0D-412C-A53C-C781DFF36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2270" y="4167464"/>
            <a:ext cx="609600" cy="609600"/>
          </a:xfrm>
          <a:prstGeom prst="rect">
            <a:avLst/>
          </a:prstGeom>
          <a:solidFill>
            <a:srgbClr val="8AC739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1</a:t>
            </a:r>
          </a:p>
        </p:txBody>
      </p:sp>
      <p:sp>
        <p:nvSpPr>
          <p:cNvPr id="13" name="Rectangle 47">
            <a:extLst>
              <a:ext uri="{FF2B5EF4-FFF2-40B4-BE49-F238E27FC236}">
                <a16:creationId xmlns:a16="http://schemas.microsoft.com/office/drawing/2014/main" id="{04BCB590-C020-44CC-927E-67E793A1C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1870" y="4167464"/>
            <a:ext cx="609600" cy="609600"/>
          </a:xfrm>
          <a:prstGeom prst="rect">
            <a:avLst/>
          </a:prstGeom>
          <a:solidFill>
            <a:srgbClr val="8AC739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1</a:t>
            </a:r>
          </a:p>
        </p:txBody>
      </p:sp>
      <p:sp>
        <p:nvSpPr>
          <p:cNvPr id="14" name="Rectangle 48">
            <a:extLst>
              <a:ext uri="{FF2B5EF4-FFF2-40B4-BE49-F238E27FC236}">
                <a16:creationId xmlns:a16="http://schemas.microsoft.com/office/drawing/2014/main" id="{5A9B96A0-C028-4D27-8235-C8F45E321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70" y="4777064"/>
            <a:ext cx="609600" cy="609600"/>
          </a:xfrm>
          <a:prstGeom prst="rect">
            <a:avLst/>
          </a:prstGeom>
          <a:solidFill>
            <a:srgbClr val="8AC739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2</a:t>
            </a:r>
          </a:p>
        </p:txBody>
      </p:sp>
      <p:sp>
        <p:nvSpPr>
          <p:cNvPr id="15" name="Rectangle 49">
            <a:extLst>
              <a:ext uri="{FF2B5EF4-FFF2-40B4-BE49-F238E27FC236}">
                <a16:creationId xmlns:a16="http://schemas.microsoft.com/office/drawing/2014/main" id="{B6BCA1B8-01B8-4F1D-A107-D1D452B5B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670" y="4777064"/>
            <a:ext cx="609600" cy="609600"/>
          </a:xfrm>
          <a:prstGeom prst="rect">
            <a:avLst/>
          </a:prstGeom>
          <a:solidFill>
            <a:srgbClr val="8AC739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2</a:t>
            </a:r>
          </a:p>
        </p:txBody>
      </p:sp>
      <p:sp>
        <p:nvSpPr>
          <p:cNvPr id="16" name="Rectangle 50">
            <a:extLst>
              <a:ext uri="{FF2B5EF4-FFF2-40B4-BE49-F238E27FC236}">
                <a16:creationId xmlns:a16="http://schemas.microsoft.com/office/drawing/2014/main" id="{26C2DC1E-06BE-4472-878B-E53437CF3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2270" y="4777064"/>
            <a:ext cx="609600" cy="609600"/>
          </a:xfrm>
          <a:prstGeom prst="rect">
            <a:avLst/>
          </a:prstGeom>
          <a:solidFill>
            <a:srgbClr val="8AC739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2</a:t>
            </a:r>
          </a:p>
        </p:txBody>
      </p:sp>
      <p:sp>
        <p:nvSpPr>
          <p:cNvPr id="17" name="Rectangle 51">
            <a:extLst>
              <a:ext uri="{FF2B5EF4-FFF2-40B4-BE49-F238E27FC236}">
                <a16:creationId xmlns:a16="http://schemas.microsoft.com/office/drawing/2014/main" id="{9C969504-B5BD-470E-B8F1-166229634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1870" y="4777064"/>
            <a:ext cx="609600" cy="609600"/>
          </a:xfrm>
          <a:prstGeom prst="rect">
            <a:avLst/>
          </a:prstGeom>
          <a:solidFill>
            <a:srgbClr val="8AC739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2</a:t>
            </a:r>
          </a:p>
        </p:txBody>
      </p:sp>
      <p:sp>
        <p:nvSpPr>
          <p:cNvPr id="18" name="Rectangle 52">
            <a:extLst>
              <a:ext uri="{FF2B5EF4-FFF2-40B4-BE49-F238E27FC236}">
                <a16:creationId xmlns:a16="http://schemas.microsoft.com/office/drawing/2014/main" id="{115E8A80-1614-4B3D-B751-10D2190C0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70" y="2872064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1</a:t>
            </a:r>
          </a:p>
        </p:txBody>
      </p:sp>
      <p:sp>
        <p:nvSpPr>
          <p:cNvPr id="19" name="Rectangle 53">
            <a:extLst>
              <a:ext uri="{FF2B5EF4-FFF2-40B4-BE49-F238E27FC236}">
                <a16:creationId xmlns:a16="http://schemas.microsoft.com/office/drawing/2014/main" id="{D1D5C261-E3A7-49F7-90A2-2DAA7839D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6670" y="2872064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0</a:t>
            </a:r>
          </a:p>
        </p:txBody>
      </p:sp>
      <p:sp>
        <p:nvSpPr>
          <p:cNvPr id="20" name="Rectangle 54">
            <a:extLst>
              <a:ext uri="{FF2B5EF4-FFF2-40B4-BE49-F238E27FC236}">
                <a16:creationId xmlns:a16="http://schemas.microsoft.com/office/drawing/2014/main" id="{7BCB427C-3100-4174-BE27-0A4270A04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6270" y="2872064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1</a:t>
            </a:r>
          </a:p>
        </p:txBody>
      </p:sp>
      <p:sp>
        <p:nvSpPr>
          <p:cNvPr id="21" name="Rectangle 55">
            <a:extLst>
              <a:ext uri="{FF2B5EF4-FFF2-40B4-BE49-F238E27FC236}">
                <a16:creationId xmlns:a16="http://schemas.microsoft.com/office/drawing/2014/main" id="{F0141291-49B8-48C1-9BCE-DBD449E2E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5870" y="2872064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1</a:t>
            </a:r>
          </a:p>
        </p:txBody>
      </p:sp>
      <p:sp>
        <p:nvSpPr>
          <p:cNvPr id="22" name="Rectangle 56">
            <a:extLst>
              <a:ext uri="{FF2B5EF4-FFF2-40B4-BE49-F238E27FC236}">
                <a16:creationId xmlns:a16="http://schemas.microsoft.com/office/drawing/2014/main" id="{A79F6C07-D97A-46FC-A9E9-FA54CA071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70" y="3481664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2</a:t>
            </a:r>
          </a:p>
        </p:txBody>
      </p:sp>
      <p:sp>
        <p:nvSpPr>
          <p:cNvPr id="23" name="Rectangle 57">
            <a:extLst>
              <a:ext uri="{FF2B5EF4-FFF2-40B4-BE49-F238E27FC236}">
                <a16:creationId xmlns:a16="http://schemas.microsoft.com/office/drawing/2014/main" id="{92A263A0-51C6-4686-8E28-89756A8D5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6670" y="3481664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2</a:t>
            </a:r>
          </a:p>
        </p:txBody>
      </p:sp>
      <p:sp>
        <p:nvSpPr>
          <p:cNvPr id="24" name="Rectangle 58">
            <a:extLst>
              <a:ext uri="{FF2B5EF4-FFF2-40B4-BE49-F238E27FC236}">
                <a16:creationId xmlns:a16="http://schemas.microsoft.com/office/drawing/2014/main" id="{D83F4C24-5683-49E2-A7B6-D1212BAA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6270" y="3481664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2</a:t>
            </a:r>
          </a:p>
        </p:txBody>
      </p:sp>
      <p:sp>
        <p:nvSpPr>
          <p:cNvPr id="25" name="Rectangle 59">
            <a:extLst>
              <a:ext uri="{FF2B5EF4-FFF2-40B4-BE49-F238E27FC236}">
                <a16:creationId xmlns:a16="http://schemas.microsoft.com/office/drawing/2014/main" id="{8E79268B-D446-42AD-9845-A93AB8567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5870" y="3481664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/>
              <a:t>0</a:t>
            </a:r>
          </a:p>
        </p:txBody>
      </p:sp>
      <p:cxnSp>
        <p:nvCxnSpPr>
          <p:cNvPr id="26" name="AutoShape 60">
            <a:extLst>
              <a:ext uri="{FF2B5EF4-FFF2-40B4-BE49-F238E27FC236}">
                <a16:creationId xmlns:a16="http://schemas.microsoft.com/office/drawing/2014/main" id="{B44163A3-2505-4621-AE0E-6136626EAE2C}"/>
              </a:ext>
            </a:extLst>
          </p:cNvPr>
          <p:cNvCxnSpPr>
            <a:cxnSpLocks noChangeShapeType="1"/>
            <a:stCxn id="7" idx="2"/>
            <a:endCxn id="11" idx="0"/>
          </p:cNvCxnSpPr>
          <p:nvPr/>
        </p:nvCxnSpPr>
        <p:spPr bwMode="auto">
          <a:xfrm>
            <a:off x="3327470" y="2810151"/>
            <a:ext cx="0" cy="1343025"/>
          </a:xfrm>
          <a:prstGeom prst="straightConnector1">
            <a:avLst/>
          </a:prstGeom>
          <a:noFill/>
          <a:ln w="762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Line 61">
            <a:extLst>
              <a:ext uri="{FF2B5EF4-FFF2-40B4-BE49-F238E27FC236}">
                <a16:creationId xmlns:a16="http://schemas.microsoft.com/office/drawing/2014/main" id="{7CEE476B-F439-48E9-B836-DCAD7BB1C5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7470" y="3481664"/>
            <a:ext cx="4343400" cy="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Text Box 62">
            <a:extLst>
              <a:ext uri="{FF2B5EF4-FFF2-40B4-BE49-F238E27FC236}">
                <a16:creationId xmlns:a16="http://schemas.microsoft.com/office/drawing/2014/main" id="{0BB45069-01C6-436A-A288-B043718BE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0532" y="2948264"/>
            <a:ext cx="2403475" cy="4572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latin typeface="Arial" panose="020B0604020202020204" pitchFamily="34" charset="0"/>
              </a:rPr>
              <a:t>(Operator: AND)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BCF69A-7F7D-4768-BF5A-3009B4F85A4C}"/>
              </a:ext>
            </a:extLst>
          </p:cNvPr>
          <p:cNvSpPr txBox="1"/>
          <p:nvPr/>
        </p:nvSpPr>
        <p:spPr>
          <a:xfrm>
            <a:off x="1564929" y="6200447"/>
            <a:ext cx="10081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Sumber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gambar</a:t>
            </a:r>
            <a:r>
              <a:rPr lang="en-US" dirty="0">
                <a:solidFill>
                  <a:srgbClr val="FF0000"/>
                </a:solidFill>
              </a:rPr>
              <a:t>: Dr. Rolf </a:t>
            </a:r>
            <a:r>
              <a:rPr lang="en-US" dirty="0" err="1">
                <a:solidFill>
                  <a:srgbClr val="FF0000"/>
                </a:solidFill>
              </a:rPr>
              <a:t>Lakaemper</a:t>
            </a:r>
            <a:r>
              <a:rPr lang="en-US" dirty="0">
                <a:solidFill>
                  <a:srgbClr val="FF0000"/>
                </a:solidFill>
              </a:rPr>
              <a:t>, CIS 601 Image ENHANCEMENT in the SPATIAL DOMAIN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9609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997A928E-6397-4DD2-A46F-E539309C6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875" y="1676717"/>
            <a:ext cx="8096250" cy="3667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5F7474-DED6-4C3B-B585-A7DEFBDEEFDF}"/>
              </a:ext>
            </a:extLst>
          </p:cNvPr>
          <p:cNvSpPr txBox="1"/>
          <p:nvPr/>
        </p:nvSpPr>
        <p:spPr>
          <a:xfrm>
            <a:off x="1869440" y="5676314"/>
            <a:ext cx="8981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Sumber:Neeti</a:t>
            </a:r>
            <a:r>
              <a:rPr lang="en-US" dirty="0"/>
              <a:t> Taneja,  Er. Mohammad </a:t>
            </a:r>
            <a:r>
              <a:rPr lang="en-US" dirty="0" err="1"/>
              <a:t>Shabaz</a:t>
            </a:r>
            <a:r>
              <a:rPr lang="en-US" dirty="0"/>
              <a:t>,  Vinayak Khajuria</a:t>
            </a:r>
            <a:r>
              <a:rPr lang="en-US" i="1" dirty="0"/>
              <a:t>,  Iris Detection Using Segmentation Techniques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D37DD3-6DA1-48D3-BBCA-E58CB810E48C}"/>
              </a:ext>
            </a:extLst>
          </p:cNvPr>
          <p:cNvSpPr txBox="1"/>
          <p:nvPr/>
        </p:nvSpPr>
        <p:spPr>
          <a:xfrm>
            <a:off x="629920" y="535355"/>
            <a:ext cx="9103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Operasi</a:t>
            </a:r>
            <a:r>
              <a:rPr lang="en-US" sz="2400" dirty="0"/>
              <a:t> AND dan OR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memilih</a:t>
            </a:r>
            <a:r>
              <a:rPr lang="en-US" sz="2400" dirty="0"/>
              <a:t> </a:t>
            </a:r>
            <a:r>
              <a:rPr lang="en-US" sz="2400" i="1" dirty="0" err="1"/>
              <a:t>subimage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i="1" dirty="0"/>
              <a:t>image </a:t>
            </a:r>
          </a:p>
        </p:txBody>
      </p:sp>
    </p:spTree>
    <p:extLst>
      <p:ext uri="{BB962C8B-B14F-4D97-AF65-F5344CB8AC3E}">
        <p14:creationId xmlns:p14="http://schemas.microsoft.com/office/powerpoint/2010/main" val="28603076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CFE1D-4D0A-4F6A-ADAC-8936E7B79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1040"/>
            <a:ext cx="10515600" cy="5475923"/>
          </a:xfrm>
        </p:spPr>
        <p:txBody>
          <a:bodyPr/>
          <a:lstStyle/>
          <a:p>
            <a:r>
              <a:rPr lang="en-US" dirty="0" err="1"/>
              <a:t>Operasi</a:t>
            </a:r>
            <a:r>
              <a:rPr lang="en-US" dirty="0"/>
              <a:t> OR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menambahkan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lain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2D1AA-391A-417D-B82C-1BF741B79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597" y="2363787"/>
            <a:ext cx="9158700" cy="25231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90B9B7-9401-41E9-B702-D553E9B5302B}"/>
              </a:ext>
            </a:extLst>
          </p:cNvPr>
          <p:cNvSpPr txBox="1"/>
          <p:nvPr/>
        </p:nvSpPr>
        <p:spPr>
          <a:xfrm>
            <a:off x="2235200" y="5923280"/>
            <a:ext cx="7516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Sumber</a:t>
            </a:r>
            <a:r>
              <a:rPr lang="en-US" dirty="0"/>
              <a:t>: </a:t>
            </a:r>
            <a:r>
              <a:rPr lang="en-US" i="1" dirty="0"/>
              <a:t>Digital Image Processing</a:t>
            </a:r>
            <a:r>
              <a:rPr lang="en-US" dirty="0"/>
              <a:t>, Amity Scholl of Engineering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38432253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BE9833-8EDB-4865-A031-B951573A8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182" y="702945"/>
            <a:ext cx="5222986" cy="52126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2A4268-31FD-497F-AF8F-A1EB0904559E}"/>
              </a:ext>
            </a:extLst>
          </p:cNvPr>
          <p:cNvSpPr txBox="1"/>
          <p:nvPr/>
        </p:nvSpPr>
        <p:spPr>
          <a:xfrm>
            <a:off x="2458720" y="6100683"/>
            <a:ext cx="7516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Sumber</a:t>
            </a:r>
            <a:r>
              <a:rPr lang="en-US" dirty="0"/>
              <a:t>: </a:t>
            </a:r>
            <a:r>
              <a:rPr lang="en-US" i="1" dirty="0"/>
              <a:t>Digital Image Processing</a:t>
            </a:r>
            <a:r>
              <a:rPr lang="en-US" dirty="0"/>
              <a:t>, Amity Scholl of Engineering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2412977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+mn-lt"/>
              </a:rPr>
              <a:t>Operasi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Geometri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geometri</a:t>
            </a:r>
            <a:r>
              <a:rPr lang="en-US" dirty="0"/>
              <a:t>: </a:t>
            </a:r>
            <a:r>
              <a:rPr lang="en-US" dirty="0" err="1"/>
              <a:t>translasi</a:t>
            </a:r>
            <a:r>
              <a:rPr lang="en-US" dirty="0"/>
              <a:t>, </a:t>
            </a:r>
            <a:r>
              <a:rPr lang="en-US" dirty="0" err="1"/>
              <a:t>rotasi</a:t>
            </a:r>
            <a:r>
              <a:rPr lang="en-US" dirty="0"/>
              <a:t>, </a:t>
            </a:r>
            <a:r>
              <a:rPr lang="en-US" dirty="0" err="1"/>
              <a:t>penskalaan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, </a:t>
            </a:r>
            <a:r>
              <a:rPr lang="en-US" dirty="0" err="1"/>
              <a:t>pencerminan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(</a:t>
            </a:r>
            <a:r>
              <a:rPr lang="en-US" i="1" dirty="0"/>
              <a:t>flipping</a:t>
            </a:r>
            <a:r>
              <a:rPr lang="en-US" dirty="0"/>
              <a:t>). </a:t>
            </a:r>
          </a:p>
          <a:p>
            <a:endParaRPr lang="en-US" dirty="0"/>
          </a:p>
          <a:p>
            <a:r>
              <a:rPr lang="en-US" dirty="0" err="1"/>
              <a:t>Pengubahan</a:t>
            </a:r>
            <a:r>
              <a:rPr lang="en-US" dirty="0"/>
              <a:t> </a:t>
            </a:r>
            <a:r>
              <a:rPr lang="en-US" dirty="0" err="1"/>
              <a:t>geometri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)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i="1" dirty="0"/>
              <a:t>f</a:t>
            </a:r>
            <a:r>
              <a:rPr lang="en-US" dirty="0"/>
              <a:t> ’(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)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ditulis</a:t>
            </a:r>
            <a:r>
              <a:rPr lang="en-US" dirty="0"/>
              <a:t> </a:t>
            </a:r>
            <a:r>
              <a:rPr lang="en-US" dirty="0" err="1"/>
              <a:t>sbb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>
                <a:solidFill>
                  <a:srgbClr val="FF0000"/>
                </a:solidFill>
              </a:rPr>
              <a:t>f</a:t>
            </a:r>
            <a:r>
              <a:rPr lang="en-US" dirty="0">
                <a:solidFill>
                  <a:srgbClr val="FF0000"/>
                </a:solidFill>
              </a:rPr>
              <a:t> ‘(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’, 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’) = </a:t>
            </a:r>
            <a:r>
              <a:rPr lang="en-US" i="1" dirty="0">
                <a:solidFill>
                  <a:srgbClr val="FF0000"/>
                </a:solidFill>
              </a:rPr>
              <a:t>f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g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, y), </a:t>
            </a:r>
            <a:r>
              <a:rPr lang="en-US" i="1" dirty="0">
                <a:solidFill>
                  <a:srgbClr val="FF0000"/>
                </a:solidFill>
              </a:rPr>
              <a:t>g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))</a:t>
            </a:r>
            <a:r>
              <a:rPr lang="en-US" dirty="0"/>
              <a:t>					  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   yang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i="1" dirty="0"/>
              <a:t>g</a:t>
            </a:r>
            <a:r>
              <a:rPr lang="en-US" baseline="-25000" dirty="0"/>
              <a:t>1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g</a:t>
            </a:r>
            <a:r>
              <a:rPr lang="en-US" baseline="-25000" dirty="0"/>
              <a:t>2</a:t>
            </a:r>
            <a:r>
              <a:rPr lang="en-US" dirty="0"/>
              <a:t>(</a:t>
            </a:r>
            <a:r>
              <a:rPr lang="en-US" i="1" dirty="0"/>
              <a:t>y</a:t>
            </a:r>
            <a:r>
              <a:rPr lang="en-US" dirty="0"/>
              <a:t>)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transformasi</a:t>
            </a:r>
            <a:r>
              <a:rPr lang="en-US" dirty="0"/>
              <a:t> </a:t>
            </a:r>
            <a:r>
              <a:rPr lang="en-US" dirty="0" err="1"/>
              <a:t>geometrik</a:t>
            </a:r>
            <a:r>
              <a:rPr lang="en-US" dirty="0"/>
              <a:t>. </a:t>
            </a:r>
            <a:r>
              <a:rPr lang="en-US" dirty="0" err="1"/>
              <a:t>Dengan</a:t>
            </a:r>
            <a:r>
              <a:rPr lang="en-US" dirty="0"/>
              <a:t> kata lain,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’ = </a:t>
            </a:r>
            <a:r>
              <a:rPr lang="en-US" i="1" dirty="0">
                <a:solidFill>
                  <a:srgbClr val="FF0000"/>
                </a:solidFill>
              </a:rPr>
              <a:t>g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, y)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	y</a:t>
            </a:r>
            <a:r>
              <a:rPr lang="en-US" dirty="0">
                <a:solidFill>
                  <a:srgbClr val="FF0000"/>
                </a:solidFill>
              </a:rPr>
              <a:t>’ = </a:t>
            </a:r>
            <a:r>
              <a:rPr lang="en-US" i="1" dirty="0">
                <a:solidFill>
                  <a:srgbClr val="FF0000"/>
                </a:solidFill>
              </a:rPr>
              <a:t>g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, y)</a:t>
            </a:r>
            <a:r>
              <a:rPr lang="en-US" dirty="0"/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38572500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5960"/>
            <a:ext cx="10515600" cy="5491163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b="1" dirty="0" err="1"/>
              <a:t>Translasi</a:t>
            </a:r>
            <a:r>
              <a:rPr lang="en-US" b="1" dirty="0"/>
              <a:t>  </a:t>
            </a:r>
          </a:p>
          <a:p>
            <a:pPr marL="0" indent="0">
              <a:buNone/>
            </a:pPr>
            <a:r>
              <a:rPr lang="en-US" b="1" dirty="0"/>
              <a:t>  </a:t>
            </a:r>
            <a:r>
              <a:rPr lang="en-US" dirty="0"/>
              <a:t>    </a:t>
            </a:r>
            <a:r>
              <a:rPr lang="en-US" sz="2400" dirty="0" err="1"/>
              <a:t>Rumus</a:t>
            </a:r>
            <a:r>
              <a:rPr lang="en-US" sz="2400" dirty="0"/>
              <a:t> </a:t>
            </a:r>
            <a:r>
              <a:rPr lang="en-US" sz="2400" dirty="0" err="1"/>
              <a:t>translasi</a:t>
            </a:r>
            <a:r>
              <a:rPr lang="en-US" sz="2400" dirty="0"/>
              <a:t> </a:t>
            </a:r>
            <a:r>
              <a:rPr lang="en-US" sz="2400" dirty="0" err="1"/>
              <a:t>sejauh</a:t>
            </a:r>
            <a:r>
              <a:rPr lang="en-US" sz="2400" dirty="0"/>
              <a:t> m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arah</a:t>
            </a:r>
            <a:r>
              <a:rPr lang="en-US" sz="2400" dirty="0"/>
              <a:t> x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i="1" dirty="0"/>
              <a:t>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arah</a:t>
            </a:r>
            <a:r>
              <a:rPr lang="en-US" sz="2400" dirty="0"/>
              <a:t> y: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Translasi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A </a:t>
            </a:r>
            <a:r>
              <a:rPr lang="en-US" sz="2400" dirty="0" err="1"/>
              <a:t>menjadi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B </a:t>
            </a:r>
            <a:r>
              <a:rPr lang="en-US" sz="2400" dirty="0" err="1"/>
              <a:t>sejauh</a:t>
            </a:r>
            <a:r>
              <a:rPr lang="en-US" sz="2400" dirty="0"/>
              <a:t> </a:t>
            </a:r>
            <a:r>
              <a:rPr lang="en-US" sz="2400" i="1" dirty="0"/>
              <a:t>m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arah</a:t>
            </a:r>
            <a:r>
              <a:rPr lang="en-US" sz="2400" dirty="0"/>
              <a:t> x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i="1" dirty="0"/>
              <a:t>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arah</a:t>
            </a:r>
            <a:r>
              <a:rPr lang="en-US" sz="2400" dirty="0"/>
              <a:t> y:</a:t>
            </a:r>
          </a:p>
        </p:txBody>
      </p:sp>
      <p:sp>
        <p:nvSpPr>
          <p:cNvPr id="4" name="Rectangle 3"/>
          <p:cNvSpPr/>
          <p:nvPr/>
        </p:nvSpPr>
        <p:spPr>
          <a:xfrm>
            <a:off x="1693718" y="3241723"/>
            <a:ext cx="32832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[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][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] =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[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+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][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+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13461" y="1650759"/>
            <a:ext cx="6096000" cy="8568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’ =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+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’ =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+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6286" y="4043766"/>
            <a:ext cx="10515600" cy="2722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translation(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B, int M, int N, int m, int n)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Mentranslasi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sejauh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m, n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B.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Ukuran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 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N. */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j;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for (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&lt;=M-1;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++)`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for (j=0; j&lt;=N-1;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B[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][j]=A[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i+m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j+n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];  				  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   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59EF38-D576-46F5-8AB6-9292A3DDE3D0}"/>
              </a:ext>
            </a:extLst>
          </p:cNvPr>
          <p:cNvSpPr/>
          <p:nvPr/>
        </p:nvSpPr>
        <p:spPr>
          <a:xfrm>
            <a:off x="1121228" y="3910753"/>
            <a:ext cx="9775372" cy="28552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1378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CAMER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849" y="1223963"/>
            <a:ext cx="3837894" cy="3837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Picture 3" descr="translas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705" y="1223963"/>
            <a:ext cx="3805237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598840" y="5522464"/>
            <a:ext cx="94984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Translasi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citra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camera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(a)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citra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semula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(b)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citra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hasil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translasi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 = 30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 = 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2594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10515600" cy="54911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  </a:t>
            </a:r>
            <a:r>
              <a:rPr lang="en-US" b="1" dirty="0" err="1"/>
              <a:t>Rotasi</a:t>
            </a:r>
            <a:r>
              <a:rPr lang="en-US" b="1" dirty="0"/>
              <a:t>  </a:t>
            </a:r>
          </a:p>
          <a:p>
            <a:pPr marL="0" indent="0">
              <a:buNone/>
            </a:pPr>
            <a:r>
              <a:rPr lang="en-US" b="1" dirty="0"/>
              <a:t>  </a:t>
            </a:r>
            <a:r>
              <a:rPr lang="en-US" dirty="0"/>
              <a:t>    </a:t>
            </a:r>
            <a:r>
              <a:rPr lang="en-US" sz="2400" dirty="0" err="1"/>
              <a:t>Rumus</a:t>
            </a:r>
            <a:r>
              <a:rPr lang="en-US" sz="2400" dirty="0"/>
              <a:t> </a:t>
            </a:r>
            <a:r>
              <a:rPr lang="en-US" sz="2400" dirty="0" err="1"/>
              <a:t>rotasi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</a:t>
            </a:r>
            <a:r>
              <a:rPr lang="en-US" sz="2400" dirty="0" err="1"/>
              <a:t>sejauh</a:t>
            </a:r>
            <a:r>
              <a:rPr lang="en-US" sz="2400" dirty="0"/>
              <a:t> </a:t>
            </a:r>
            <a:r>
              <a:rPr lang="en-US" sz="2400" i="1" dirty="0">
                <a:sym typeface="Symbol" panose="05050102010706020507" pitchFamily="18" charset="2"/>
              </a:rPr>
              <a:t></a:t>
            </a:r>
            <a:r>
              <a:rPr lang="en-US" sz="2400" dirty="0"/>
              <a:t>  radian </a:t>
            </a:r>
            <a:r>
              <a:rPr lang="en-US" sz="2400" dirty="0" err="1"/>
              <a:t>berlawanan</a:t>
            </a:r>
            <a:r>
              <a:rPr lang="en-US" sz="2400" dirty="0"/>
              <a:t> </a:t>
            </a:r>
            <a:r>
              <a:rPr lang="en-US" sz="2400" dirty="0" err="1"/>
              <a:t>arah</a:t>
            </a:r>
            <a:r>
              <a:rPr lang="en-US" sz="2400" dirty="0"/>
              <a:t> </a:t>
            </a:r>
            <a:r>
              <a:rPr lang="en-US" sz="2400" dirty="0" err="1"/>
              <a:t>jarum</a:t>
            </a:r>
            <a:r>
              <a:rPr lang="en-US" sz="2400" dirty="0"/>
              <a:t> jam 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Rotasi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A </a:t>
            </a:r>
            <a:r>
              <a:rPr lang="en-US" sz="2400" dirty="0" err="1"/>
              <a:t>menjadi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B </a:t>
            </a:r>
            <a:r>
              <a:rPr lang="en-US" sz="2400" dirty="0" err="1"/>
              <a:t>sejauh</a:t>
            </a:r>
            <a:r>
              <a:rPr lang="en-US" sz="2400" dirty="0"/>
              <a:t> </a:t>
            </a:r>
            <a:r>
              <a:rPr lang="en-US" sz="2400" i="1" dirty="0">
                <a:sym typeface="Symbol" panose="05050102010706020507" pitchFamily="18" charset="2"/>
              </a:rPr>
              <a:t></a:t>
            </a:r>
            <a:r>
              <a:rPr lang="en-US" sz="2400" dirty="0"/>
              <a:t>  radian </a:t>
            </a:r>
            <a:r>
              <a:rPr lang="en-US" sz="2400" dirty="0" err="1"/>
              <a:t>berlawanan</a:t>
            </a:r>
            <a:r>
              <a:rPr lang="en-US" sz="2400" dirty="0"/>
              <a:t> </a:t>
            </a:r>
            <a:r>
              <a:rPr lang="en-US" sz="2400" dirty="0" err="1"/>
              <a:t>arah</a:t>
            </a:r>
            <a:r>
              <a:rPr lang="en-US" sz="2400" dirty="0"/>
              <a:t> </a:t>
            </a:r>
            <a:r>
              <a:rPr lang="en-US" sz="2400" dirty="0" err="1"/>
              <a:t>jarum</a:t>
            </a:r>
            <a:r>
              <a:rPr lang="en-US" sz="2400" dirty="0"/>
              <a:t> jam :</a:t>
            </a:r>
          </a:p>
        </p:txBody>
      </p:sp>
      <p:sp>
        <p:nvSpPr>
          <p:cNvPr id="2" name="Rectangle 1"/>
          <p:cNvSpPr/>
          <p:nvPr/>
        </p:nvSpPr>
        <p:spPr>
          <a:xfrm>
            <a:off x="1992086" y="1821818"/>
            <a:ext cx="6096000" cy="81990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97000"/>
              </a:lnSpc>
              <a:spcAft>
                <a:spcPts val="0"/>
              </a:spcAft>
            </a:pP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’ =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cos(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– 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sin(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’ =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sin(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+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cos(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1883228" y="3264422"/>
            <a:ext cx="840377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[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’][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’] =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[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cos(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–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sin(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)][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cos(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+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cos(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)] =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[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][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717028"/>
              </p:ext>
            </p:extLst>
          </p:nvPr>
        </p:nvGraphicFramePr>
        <p:xfrm>
          <a:off x="3290660" y="3840499"/>
          <a:ext cx="3545051" cy="295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86800" imgH="1992240" progId="">
                  <p:embed/>
                </p:oleObj>
              </mc:Choice>
              <mc:Fallback>
                <p:oleObj r:id="rId2" imgW="2386800" imgH="199224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660" y="3840499"/>
                        <a:ext cx="3545051" cy="295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66601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464" y="2673350"/>
            <a:ext cx="2921908" cy="2921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718" y="2673350"/>
            <a:ext cx="2903311" cy="2905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76589" y="2569254"/>
            <a:ext cx="3151868" cy="47874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976258" y="2569254"/>
            <a:ext cx="436108" cy="312397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4833257" y="4071257"/>
            <a:ext cx="805543" cy="2394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-381000" y="5976649"/>
            <a:ext cx="106897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Gambar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rotasi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citra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Lena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sejauh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90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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berlawanan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arah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jarum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jam</a:t>
            </a:r>
            <a:endParaRPr kumimoji="0" lang="en-US" altLang="en-US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84238" y="424195"/>
            <a:ext cx="1018404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Jika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sudut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rotasinya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90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maka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implementasinya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lebih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mudah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dilakukan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cara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menyalin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pixel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pixel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baris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pixel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pixel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kolom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pada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arah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rotasi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Rotasi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180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diimplementasikan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melakukan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rotasi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90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dua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kali.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602318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572" y="884988"/>
            <a:ext cx="109728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void rotation90CCW(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A,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B, int M, int N)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1590" algn="just">
              <a:spcAft>
                <a:spcPts val="0"/>
              </a:spcAft>
            </a:pP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/*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Rotasi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A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sejauh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90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  <a:sym typeface="Symbol" panose="05050102010706020507" pitchFamily="18" charset="2"/>
              </a:rPr>
              <a:t>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berlawanan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arah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jarum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jam (CCW = Clock Counter-wise).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Ukuran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adalah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M 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  <a:sym typeface="Symbol" panose="05050102010706020507" pitchFamily="18" charset="2"/>
              </a:rPr>
              <a:t>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N.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Hasil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rotasi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disimpan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di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dalam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B.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*/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{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, j, k;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for 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=0;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&lt;=M-1;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++)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1590"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{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  k=N-1;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  for (j=0; j&lt;=N-1;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j++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  {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    B[k][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]=A[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][j];  			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    k--;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  }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endParaRPr lang="en-US" sz="3200" dirty="0"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3200" dirty="0"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59EF38-D576-46F5-8AB6-9292A3DDE3D0}"/>
              </a:ext>
            </a:extLst>
          </p:cNvPr>
          <p:cNvSpPr/>
          <p:nvPr/>
        </p:nvSpPr>
        <p:spPr>
          <a:xfrm>
            <a:off x="533400" y="641531"/>
            <a:ext cx="11288485" cy="48550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504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7685" y="1230315"/>
            <a:ext cx="1071154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void rotation90CW(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A,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B, int M, int N)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1590" algn="just">
              <a:spcAft>
                <a:spcPts val="0"/>
              </a:spcAft>
            </a:pP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/*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Rotasi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A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sejauh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90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  <a:sym typeface="Symbol" panose="05050102010706020507" pitchFamily="18" charset="2"/>
              </a:rPr>
              <a:t>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searah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jarum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jam (CW = Clock-wise).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Ukuran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adalah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M 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  <a:sym typeface="Symbol" panose="05050102010706020507" pitchFamily="18" charset="2"/>
              </a:rPr>
              <a:t>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N.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Hasil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rotasi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disimpan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di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dalam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B.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*/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{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, j, k;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k=N-1;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for 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&lt;=M-1;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111760"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for (j=0; j&lt;=N-1;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111760"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B[j][k]=A[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][j];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  } 			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  k--;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}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3200" dirty="0">
              <a:effectLst/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59EF38-D576-46F5-8AB6-9292A3DDE3D0}"/>
              </a:ext>
            </a:extLst>
          </p:cNvPr>
          <p:cNvSpPr/>
          <p:nvPr/>
        </p:nvSpPr>
        <p:spPr>
          <a:xfrm>
            <a:off x="789213" y="1064957"/>
            <a:ext cx="10259787" cy="48550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079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83772"/>
            <a:ext cx="10515600" cy="5393192"/>
          </a:xfrm>
        </p:spPr>
        <p:txBody>
          <a:bodyPr/>
          <a:lstStyle/>
          <a:p>
            <a:pPr marL="514350" indent="-514350">
              <a:buAutoNum type="arabicPeriod" startAt="3"/>
            </a:pPr>
            <a:r>
              <a:rPr lang="en-US" b="1" dirty="0"/>
              <a:t>Flipping </a:t>
            </a:r>
          </a:p>
          <a:p>
            <a:r>
              <a:rPr lang="en-US" sz="2400" i="1" dirty="0"/>
              <a:t>Flipping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operasi</a:t>
            </a:r>
            <a:r>
              <a:rPr lang="en-US" sz="2400" dirty="0"/>
              <a:t> </a:t>
            </a:r>
            <a:r>
              <a:rPr lang="en-US" sz="2400" dirty="0" err="1"/>
              <a:t>geometri</a:t>
            </a:r>
            <a:r>
              <a:rPr lang="en-US" sz="2400" dirty="0"/>
              <a:t> yang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pencerminan</a:t>
            </a:r>
            <a:r>
              <a:rPr lang="en-US" sz="2400" dirty="0"/>
              <a:t> (</a:t>
            </a:r>
            <a:r>
              <a:rPr lang="en-US" sz="2400" i="1" dirty="0"/>
              <a:t>image reflection</a:t>
            </a:r>
            <a:r>
              <a:rPr lang="en-US" sz="2400" dirty="0"/>
              <a:t>).  </a:t>
            </a:r>
          </a:p>
          <a:p>
            <a:r>
              <a:rPr lang="en-US" sz="2400" dirty="0"/>
              <a:t>Ada </a:t>
            </a:r>
            <a:r>
              <a:rPr lang="en-US" sz="2400" dirty="0" err="1"/>
              <a:t>dua</a:t>
            </a:r>
            <a:r>
              <a:rPr lang="en-US" sz="2400" dirty="0"/>
              <a:t> </a:t>
            </a:r>
            <a:r>
              <a:rPr lang="en-US" sz="2400" dirty="0" err="1"/>
              <a:t>macam</a:t>
            </a:r>
            <a:r>
              <a:rPr lang="en-US" sz="2400" dirty="0"/>
              <a:t> </a:t>
            </a:r>
            <a:r>
              <a:rPr lang="en-US" sz="2400" i="1" dirty="0"/>
              <a:t>flipping</a:t>
            </a:r>
            <a:r>
              <a:rPr lang="en-US" sz="2400" dirty="0"/>
              <a:t>: horizontal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vertikal</a:t>
            </a:r>
            <a:r>
              <a:rPr lang="en-US" sz="2400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2875869"/>
            <a:ext cx="8019940" cy="296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228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22514"/>
            <a:ext cx="10515600" cy="5965372"/>
          </a:xfrm>
        </p:spPr>
        <p:txBody>
          <a:bodyPr>
            <a:normAutofit fontScale="77500" lnSpcReduction="20000"/>
          </a:bodyPr>
          <a:lstStyle/>
          <a:p>
            <a:r>
              <a:rPr lang="en-US" i="1" dirty="0"/>
              <a:t>Flipping</a:t>
            </a:r>
            <a:r>
              <a:rPr lang="en-US" dirty="0"/>
              <a:t> horizontal:  </a:t>
            </a:r>
            <a:r>
              <a:rPr lang="en-US" dirty="0" err="1"/>
              <a:t>pencerminan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sumbu</a:t>
            </a:r>
            <a:r>
              <a:rPr lang="en-US" dirty="0"/>
              <a:t>-</a:t>
            </a:r>
            <a:r>
              <a:rPr lang="en-US" i="1" dirty="0"/>
              <a:t>Y</a:t>
            </a:r>
            <a:r>
              <a:rPr lang="en-US" dirty="0"/>
              <a:t> (</a:t>
            </a:r>
            <a:r>
              <a:rPr lang="en-US" i="1" dirty="0" err="1"/>
              <a:t>cartesian</a:t>
            </a:r>
            <a:r>
              <a:rPr lang="en-US" dirty="0"/>
              <a:t>)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 : </a:t>
            </a:r>
          </a:p>
          <a:p>
            <a:pPr marL="0" indent="0">
              <a:buNone/>
            </a:pPr>
            <a:r>
              <a:rPr lang="en-US" i="1" dirty="0"/>
              <a:t> 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   	</a:t>
            </a:r>
            <a:r>
              <a:rPr lang="en-US" i="1" dirty="0">
                <a:solidFill>
                  <a:srgbClr val="FF0000"/>
                </a:solidFill>
              </a:rPr>
              <a:t>B</a:t>
            </a: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][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] = </a:t>
            </a:r>
            <a:r>
              <a:rPr lang="en-US" i="1" dirty="0">
                <a:solidFill>
                  <a:srgbClr val="FF0000"/>
                </a:solidFill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i="1" dirty="0">
                <a:solidFill>
                  <a:srgbClr val="FF0000"/>
                </a:solidFill>
              </a:rPr>
              <a:t>N</a:t>
            </a:r>
            <a:r>
              <a:rPr lang="en-US" dirty="0">
                <a:solidFill>
                  <a:srgbClr val="FF0000"/>
                </a:solidFill>
              </a:rPr>
              <a:t> – 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][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] 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r>
              <a:rPr lang="en-US" i="1" dirty="0"/>
              <a:t>Flipping</a:t>
            </a:r>
            <a:r>
              <a:rPr lang="en-US" dirty="0"/>
              <a:t> vertical: </a:t>
            </a:r>
            <a:r>
              <a:rPr lang="en-US" dirty="0" err="1"/>
              <a:t>pencerminan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sumbu</a:t>
            </a:r>
            <a:r>
              <a:rPr lang="en-US" dirty="0"/>
              <a:t>-</a:t>
            </a:r>
            <a:r>
              <a:rPr lang="en-US" i="1" dirty="0"/>
              <a:t>X</a:t>
            </a:r>
            <a:r>
              <a:rPr lang="en-US" dirty="0"/>
              <a:t> (</a:t>
            </a:r>
            <a:r>
              <a:rPr lang="en-US" i="1" dirty="0" err="1"/>
              <a:t>cartesian</a:t>
            </a:r>
            <a:r>
              <a:rPr lang="en-US" dirty="0"/>
              <a:t>)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i="1" dirty="0"/>
              <a:t>	</a:t>
            </a:r>
          </a:p>
          <a:p>
            <a:pPr marL="0" indent="0"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FF0000"/>
                </a:solidFill>
              </a:rPr>
              <a:t>B</a:t>
            </a: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][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] = </a:t>
            </a:r>
            <a:r>
              <a:rPr lang="en-US" i="1" dirty="0">
                <a:solidFill>
                  <a:srgbClr val="FF0000"/>
                </a:solidFill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][</a:t>
            </a:r>
            <a:r>
              <a:rPr lang="en-US" i="1" dirty="0">
                <a:solidFill>
                  <a:srgbClr val="FF0000"/>
                </a:solidFill>
              </a:rPr>
              <a:t>M – y</a:t>
            </a:r>
            <a:r>
              <a:rPr lang="en-US" dirty="0">
                <a:solidFill>
                  <a:srgbClr val="FF0000"/>
                </a:solidFill>
              </a:rPr>
              <a:t>] 	</a:t>
            </a:r>
            <a:r>
              <a:rPr lang="en-US" dirty="0"/>
              <a:t>					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dirty="0" err="1"/>
              <a:t>Pencerminan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asal</a:t>
            </a:r>
            <a:r>
              <a:rPr lang="en-US" dirty="0"/>
              <a:t> (</a:t>
            </a:r>
            <a:r>
              <a:rPr lang="en-US" i="1" dirty="0" err="1"/>
              <a:t>cartesian</a:t>
            </a:r>
            <a:r>
              <a:rPr lang="en-US" dirty="0"/>
              <a:t>)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i="1" dirty="0"/>
              <a:t>B: 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 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FF0000"/>
                </a:solidFill>
              </a:rPr>
              <a:t>B</a:t>
            </a: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][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] = </a:t>
            </a:r>
            <a:r>
              <a:rPr lang="en-US" i="1" dirty="0">
                <a:solidFill>
                  <a:srgbClr val="FF0000"/>
                </a:solidFill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i="1" dirty="0">
                <a:solidFill>
                  <a:srgbClr val="FF0000"/>
                </a:solidFill>
              </a:rPr>
              <a:t>N – x</a:t>
            </a:r>
            <a:r>
              <a:rPr lang="en-US" dirty="0">
                <a:solidFill>
                  <a:srgbClr val="FF0000"/>
                </a:solidFill>
              </a:rPr>
              <a:t>][</a:t>
            </a:r>
            <a:r>
              <a:rPr lang="en-US" i="1" dirty="0">
                <a:solidFill>
                  <a:srgbClr val="FF0000"/>
                </a:solidFill>
              </a:rPr>
              <a:t>M – y</a:t>
            </a:r>
            <a:r>
              <a:rPr lang="en-US" dirty="0">
                <a:solidFill>
                  <a:srgbClr val="FF0000"/>
                </a:solidFill>
              </a:rPr>
              <a:t>] </a:t>
            </a:r>
            <a:r>
              <a:rPr lang="en-US" dirty="0"/>
              <a:t>					 </a:t>
            </a:r>
          </a:p>
          <a:p>
            <a:endParaRPr lang="en-US" dirty="0"/>
          </a:p>
          <a:p>
            <a:r>
              <a:rPr lang="en-US" dirty="0" err="1"/>
              <a:t>Pencerminan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garis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dirty="0"/>
              <a:t> = </a:t>
            </a:r>
            <a:r>
              <a:rPr lang="en-US" i="1" dirty="0"/>
              <a:t>y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FF0000"/>
                </a:solidFill>
              </a:rPr>
              <a:t>B</a:t>
            </a: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][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] = </a:t>
            </a:r>
            <a:r>
              <a:rPr lang="en-US" i="1" dirty="0">
                <a:solidFill>
                  <a:srgbClr val="FF0000"/>
                </a:solidFill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][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3735701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7943" y="1070045"/>
            <a:ext cx="10842171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void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vertical_flip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A,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B, int M, int N)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1590" algn="just">
              <a:spcAft>
                <a:spcPts val="0"/>
              </a:spcAft>
            </a:pP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/* Flipping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vertikal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(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pencerminan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terhadap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sumbu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-X)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terhadap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citar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A. */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Ukuran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adalah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M 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  <a:sym typeface="Symbol" panose="05050102010706020507" pitchFamily="18" charset="2"/>
              </a:rPr>
              <a:t>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N.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Hasil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flipping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disimpan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di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dalam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B.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*/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{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, j, k;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k=N-1;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for 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=0;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&lt;=M-1;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++)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{ 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 for (j=0; j&lt;=N-1;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j++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 {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   B[k][j]=A[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][j];  	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 }		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 k--;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 }	  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3200" dirty="0"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    </a:t>
            </a:r>
            <a:endParaRPr lang="en-US" sz="3200" dirty="0">
              <a:effectLst/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59EF38-D576-46F5-8AB6-9292A3DDE3D0}"/>
              </a:ext>
            </a:extLst>
          </p:cNvPr>
          <p:cNvSpPr/>
          <p:nvPr/>
        </p:nvSpPr>
        <p:spPr>
          <a:xfrm>
            <a:off x="800098" y="1016330"/>
            <a:ext cx="10259787" cy="48550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0859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05543"/>
            <a:ext cx="10515600" cy="537142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eriod" startAt="4"/>
            </a:pPr>
            <a:r>
              <a:rPr lang="en-US" b="1" dirty="0" err="1"/>
              <a:t>Penskalaan</a:t>
            </a:r>
            <a:r>
              <a:rPr lang="en-US" b="1" dirty="0"/>
              <a:t> </a:t>
            </a:r>
            <a:r>
              <a:rPr lang="en-US" b="1" dirty="0" err="1"/>
              <a:t>citra</a:t>
            </a:r>
            <a:r>
              <a:rPr lang="en-US" b="1" dirty="0"/>
              <a:t> (</a:t>
            </a:r>
            <a:r>
              <a:rPr lang="en-US" b="1" i="1" dirty="0"/>
              <a:t>image zooming</a:t>
            </a:r>
            <a:r>
              <a:rPr lang="en-US" b="1" dirty="0"/>
              <a:t>) </a:t>
            </a:r>
          </a:p>
          <a:p>
            <a:endParaRPr lang="en-US" dirty="0"/>
          </a:p>
          <a:p>
            <a:r>
              <a:rPr lang="en-US" dirty="0" err="1"/>
              <a:t>Pengubahan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(</a:t>
            </a:r>
            <a:r>
              <a:rPr lang="en-US" dirty="0" err="1"/>
              <a:t>membesar</a:t>
            </a:r>
            <a:r>
              <a:rPr lang="en-US" dirty="0"/>
              <a:t>/</a:t>
            </a:r>
            <a:r>
              <a:rPr lang="en-US" i="1" dirty="0"/>
              <a:t>zoom out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mengecil</a:t>
            </a:r>
            <a:r>
              <a:rPr lang="en-US" dirty="0"/>
              <a:t>/</a:t>
            </a:r>
            <a:r>
              <a:rPr lang="en-US" i="1" dirty="0"/>
              <a:t>zoom in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dirty="0" err="1"/>
              <a:t>Rumus</a:t>
            </a:r>
            <a:r>
              <a:rPr lang="en-US" dirty="0"/>
              <a:t> </a:t>
            </a:r>
            <a:r>
              <a:rPr lang="en-US" dirty="0" err="1"/>
              <a:t>penskalaan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’ = </a:t>
            </a:r>
            <a:r>
              <a:rPr lang="en-US" i="1" dirty="0" err="1">
                <a:solidFill>
                  <a:srgbClr val="FF0000"/>
                </a:solidFill>
              </a:rPr>
              <a:t>s</a:t>
            </a:r>
            <a:r>
              <a:rPr lang="en-US" i="1" baseline="-25000" dirty="0" err="1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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’ = </a:t>
            </a:r>
            <a:r>
              <a:rPr lang="en-US" i="1" dirty="0" err="1">
                <a:solidFill>
                  <a:srgbClr val="FF0000"/>
                </a:solidFill>
              </a:rPr>
              <a:t>s</a:t>
            </a:r>
            <a:r>
              <a:rPr lang="en-US" i="1" baseline="-25000" dirty="0" err="1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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/>
              <a:t>							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i="1" dirty="0" err="1"/>
              <a:t>s</a:t>
            </a:r>
            <a:r>
              <a:rPr lang="en-US" i="1" baseline="-25000" dirty="0" err="1"/>
              <a:t>x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 err="1"/>
              <a:t>s</a:t>
            </a:r>
            <a:r>
              <a:rPr lang="en-US" i="1" baseline="-25000" dirty="0" err="1"/>
              <a:t>y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faktor</a:t>
            </a:r>
            <a:r>
              <a:rPr lang="en-US" dirty="0"/>
              <a:t> </a:t>
            </a:r>
            <a:r>
              <a:rPr lang="en-US" dirty="0" err="1"/>
              <a:t>skala</a:t>
            </a:r>
            <a:r>
              <a:rPr lang="en-US" dirty="0"/>
              <a:t> </a:t>
            </a:r>
            <a:r>
              <a:rPr lang="en-US" dirty="0" err="1"/>
              <a:t>masing-masing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i="1" dirty="0"/>
              <a:t>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dirty="0" err="1"/>
              <a:t>Penskalaan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i="1" dirty="0"/>
              <a:t>           </a:t>
            </a:r>
            <a:r>
              <a:rPr lang="en-US" i="1" dirty="0">
                <a:solidFill>
                  <a:srgbClr val="FF0000"/>
                </a:solidFill>
              </a:rPr>
              <a:t>B</a:t>
            </a: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’][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’] = </a:t>
            </a:r>
            <a:r>
              <a:rPr lang="en-US" i="1" dirty="0">
                <a:solidFill>
                  <a:srgbClr val="FF0000"/>
                </a:solidFill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i="1" dirty="0" err="1">
                <a:solidFill>
                  <a:srgbClr val="FF0000"/>
                </a:solidFill>
              </a:rPr>
              <a:t>s</a:t>
            </a:r>
            <a:r>
              <a:rPr lang="en-US" i="1" baseline="-25000" dirty="0" err="1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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][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s</a:t>
            </a:r>
            <a:r>
              <a:rPr lang="en-US" i="1" baseline="-25000" dirty="0" err="1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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9245730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794657"/>
            <a:ext cx="10515600" cy="5382306"/>
          </a:xfrm>
        </p:spPr>
        <p:txBody>
          <a:bodyPr>
            <a:normAutofit/>
          </a:bodyPr>
          <a:lstStyle/>
          <a:p>
            <a:r>
              <a:rPr lang="en-US" sz="2400" dirty="0" err="1"/>
              <a:t>Operasi</a:t>
            </a:r>
            <a:r>
              <a:rPr lang="en-US" sz="2400" dirty="0"/>
              <a:t> </a:t>
            </a:r>
            <a:r>
              <a:rPr lang="en-US" sz="2400" i="1" dirty="0"/>
              <a:t>zoom out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faktor</a:t>
            </a:r>
            <a:r>
              <a:rPr lang="en-US" sz="2400" dirty="0"/>
              <a:t>  2 (</a:t>
            </a:r>
            <a:r>
              <a:rPr lang="en-US" sz="2400" dirty="0" err="1"/>
              <a:t>yaitu</a:t>
            </a:r>
            <a:r>
              <a:rPr lang="en-US" sz="2400" dirty="0"/>
              <a:t>, </a:t>
            </a:r>
            <a:r>
              <a:rPr lang="en-US" sz="2400" i="1" dirty="0" err="1"/>
              <a:t>s</a:t>
            </a:r>
            <a:r>
              <a:rPr lang="en-US" sz="2400" i="1" baseline="-25000" dirty="0" err="1"/>
              <a:t>x</a:t>
            </a:r>
            <a:r>
              <a:rPr lang="en-US" sz="2400" dirty="0"/>
              <a:t> = </a:t>
            </a:r>
            <a:r>
              <a:rPr lang="en-US" sz="2400" i="1" dirty="0" err="1"/>
              <a:t>s</a:t>
            </a:r>
            <a:r>
              <a:rPr lang="en-US" sz="2400" i="1" baseline="-25000" dirty="0" err="1"/>
              <a:t>y</a:t>
            </a:r>
            <a:r>
              <a:rPr lang="en-US" sz="2400" baseline="-25000" dirty="0"/>
              <a:t> </a:t>
            </a:r>
            <a:r>
              <a:rPr lang="en-US" sz="2400" dirty="0"/>
              <a:t>= 2) </a:t>
            </a:r>
            <a:r>
              <a:rPr lang="en-US" sz="2400" dirty="0" err="1"/>
              <a:t>diimplementasikan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menyalin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i="1" dirty="0"/>
              <a:t>pixel</a:t>
            </a:r>
            <a:r>
              <a:rPr lang="en-US" sz="2400" dirty="0"/>
              <a:t> </a:t>
            </a:r>
            <a:r>
              <a:rPr lang="en-US" sz="2400" dirty="0" err="1"/>
              <a:t>sebanyak</a:t>
            </a:r>
            <a:r>
              <a:rPr lang="en-US" sz="2400" dirty="0"/>
              <a:t> 4 kali.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136005"/>
              </p:ext>
            </p:extLst>
          </p:nvPr>
        </p:nvGraphicFramePr>
        <p:xfrm>
          <a:off x="838200" y="2196202"/>
          <a:ext cx="3708854" cy="3150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93800" imgH="2203920" progId="">
                  <p:embed/>
                </p:oleObj>
              </mc:Choice>
              <mc:Fallback>
                <p:oleObj r:id="rId2" imgW="2593800" imgH="220392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196202"/>
                        <a:ext cx="3708854" cy="31507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75" y="4108678"/>
            <a:ext cx="123825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5386" y="2851378"/>
            <a:ext cx="2495550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47054" y="5469558"/>
            <a:ext cx="731148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Gambar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Kiri: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itra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kota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San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Fransisco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ukuran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normal),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Kanan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citra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kota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San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Fransisco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setelah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diperbesar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2 kali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</a:t>
            </a:r>
            <a:r>
              <a:rPr kumimoji="0" lang="en-US" altLang="en-US" sz="1600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</a:t>
            </a:r>
            <a:r>
              <a:rPr kumimoji="0" lang="en-US" altLang="en-US" sz="1600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2):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112279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5259" y="660541"/>
            <a:ext cx="1151921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void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zoom_out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A,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B, int M, int N)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1590" algn="just">
              <a:spcAft>
                <a:spcPts val="0"/>
              </a:spcAft>
            </a:pP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/*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perbesaran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A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dengan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faktor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skala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2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Ukuran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adalah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M 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  <a:sym typeface="Symbol" panose="05050102010706020507" pitchFamily="18" charset="2"/>
              </a:rPr>
              <a:t>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N.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Hasil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perbesaran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disimpa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d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dalam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B.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*/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{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, j, k, m, n;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1590"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m=0; n=0;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1590"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for 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&lt;=M-1;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1590"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1590"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for (j=0; j&lt;=N-1;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1590"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B[m][n]= A[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][j];  			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B[m][n+1]= A[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B[m+1][n]= A[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B[m+1][n+1]= A[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][j];	     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n=n+2;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m=m+2;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n=0;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  <a:endParaRPr lang="en-US" sz="3200" dirty="0"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    </a:t>
            </a:r>
            <a:endParaRPr lang="en-US" sz="3200" dirty="0">
              <a:effectLst/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59EF38-D576-46F5-8AB6-9292A3DDE3D0}"/>
              </a:ext>
            </a:extLst>
          </p:cNvPr>
          <p:cNvSpPr/>
          <p:nvPr/>
        </p:nvSpPr>
        <p:spPr>
          <a:xfrm>
            <a:off x="409806" y="465760"/>
            <a:ext cx="11098253" cy="61040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899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5914"/>
            <a:ext cx="10515600" cy="5121049"/>
          </a:xfrm>
        </p:spPr>
        <p:txBody>
          <a:bodyPr>
            <a:normAutofit/>
          </a:bodyPr>
          <a:lstStyle/>
          <a:p>
            <a:r>
              <a:rPr lang="en-US" sz="2400" dirty="0" err="1"/>
              <a:t>Operasi</a:t>
            </a:r>
            <a:r>
              <a:rPr lang="en-US" sz="2400" dirty="0"/>
              <a:t> </a:t>
            </a:r>
            <a:r>
              <a:rPr lang="en-US" sz="2400" i="1" dirty="0"/>
              <a:t>zoom in</a:t>
            </a:r>
            <a:r>
              <a:rPr lang="en-US" sz="2400" dirty="0"/>
              <a:t> (</a:t>
            </a:r>
            <a:r>
              <a:rPr lang="en-US" sz="2400" dirty="0" err="1"/>
              <a:t>pengecilan</a:t>
            </a:r>
            <a:r>
              <a:rPr lang="en-US" sz="2400" dirty="0"/>
              <a:t>)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faktor</a:t>
            </a:r>
            <a:r>
              <a:rPr lang="en-US" sz="2400" dirty="0"/>
              <a:t> </a:t>
            </a:r>
            <a:r>
              <a:rPr lang="en-US" sz="2400" dirty="0" err="1"/>
              <a:t>skala</a:t>
            </a:r>
            <a:r>
              <a:rPr lang="en-US" sz="2400" dirty="0"/>
              <a:t> = ½ </a:t>
            </a:r>
            <a:r>
              <a:rPr lang="en-US" sz="2400" dirty="0" err="1"/>
              <a:t>dilakukan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mengambil</a:t>
            </a:r>
            <a:r>
              <a:rPr lang="en-US" sz="2400" dirty="0"/>
              <a:t> rata-rata </a:t>
            </a:r>
            <a:r>
              <a:rPr lang="en-US" sz="2400" dirty="0" err="1"/>
              <a:t>dari</a:t>
            </a:r>
            <a:r>
              <a:rPr lang="en-US" sz="2400" dirty="0"/>
              <a:t> 4 </a:t>
            </a:r>
            <a:r>
              <a:rPr lang="en-US" sz="2400" i="1" dirty="0"/>
              <a:t>pixel</a:t>
            </a:r>
            <a:r>
              <a:rPr lang="en-US" sz="2400" dirty="0"/>
              <a:t> yang </a:t>
            </a:r>
            <a:r>
              <a:rPr lang="en-US" sz="2400" dirty="0" err="1"/>
              <a:t>bertetangga</a:t>
            </a:r>
            <a:r>
              <a:rPr lang="en-US" sz="2400" dirty="0"/>
              <a:t> </a:t>
            </a:r>
            <a:r>
              <a:rPr lang="en-US" sz="2400" dirty="0" err="1"/>
              <a:t>menjadi</a:t>
            </a:r>
            <a:r>
              <a:rPr lang="en-US" sz="2400" dirty="0"/>
              <a:t> 1 </a:t>
            </a:r>
            <a:r>
              <a:rPr lang="en-US" sz="2400" i="1" dirty="0"/>
              <a:t>pixel </a:t>
            </a:r>
            <a:endParaRPr lang="en-US" sz="24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018460"/>
              </p:ext>
            </p:extLst>
          </p:nvPr>
        </p:nvGraphicFramePr>
        <p:xfrm>
          <a:off x="3245530" y="2421617"/>
          <a:ext cx="3917269" cy="3678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46120" imgH="2203920" progId="">
                  <p:embed/>
                </p:oleObj>
              </mc:Choice>
              <mc:Fallback>
                <p:oleObj r:id="rId2" imgW="2346120" imgH="220392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5530" y="2421617"/>
                        <a:ext cx="3917269" cy="3678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4695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</TotalTime>
  <Words>3944</Words>
  <Application>Microsoft Office PowerPoint</Application>
  <PresentationFormat>Widescreen</PresentationFormat>
  <Paragraphs>472</Paragraphs>
  <Slides>57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68" baseType="lpstr">
      <vt:lpstr>Arial</vt:lpstr>
      <vt:lpstr>Calibri</vt:lpstr>
      <vt:lpstr>Calibri Light</vt:lpstr>
      <vt:lpstr>Century Gothic</vt:lpstr>
      <vt:lpstr>Courier New</vt:lpstr>
      <vt:lpstr>Symbol</vt:lpstr>
      <vt:lpstr>Times New Roman</vt:lpstr>
      <vt:lpstr>Wingdings</vt:lpstr>
      <vt:lpstr>Office Theme</vt:lpstr>
      <vt:lpstr>Visio.Drawing.5</vt:lpstr>
      <vt:lpstr>Image</vt:lpstr>
      <vt:lpstr>05 - Operasi-operasi Dasar Pengolahan Citra</vt:lpstr>
      <vt:lpstr>Aras operasi</vt:lpstr>
      <vt:lpstr>1. Aras Titik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Aras Lokal</vt:lpstr>
      <vt:lpstr>PowerPoint Presentation</vt:lpstr>
      <vt:lpstr>3. Aras Global</vt:lpstr>
      <vt:lpstr>4. Aras Objek</vt:lpstr>
      <vt:lpstr>PowerPoint Presentation</vt:lpstr>
      <vt:lpstr>Operasi Aritmetika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Operasi Boolean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Operasi Geometri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Dr.Ir. Rinaldi Munir, MT</dc:creator>
  <cp:lastModifiedBy>Budi Setiyono</cp:lastModifiedBy>
  <cp:revision>127</cp:revision>
  <dcterms:created xsi:type="dcterms:W3CDTF">2019-08-23T02:29:55Z</dcterms:created>
  <dcterms:modified xsi:type="dcterms:W3CDTF">2026-03-11T23:19:55Z</dcterms:modified>
</cp:coreProperties>
</file>